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9" r:id="rId13"/>
    <p:sldId id="270" r:id="rId14"/>
    <p:sldId id="271" r:id="rId15"/>
    <p:sldId id="272" r:id="rId16"/>
    <p:sldId id="274" r:id="rId17"/>
    <p:sldId id="273" r:id="rId18"/>
    <p:sldId id="275" r:id="rId19"/>
    <p:sldId id="276" r:id="rId20"/>
    <p:sldId id="277" r:id="rId21"/>
    <p:sldId id="278" r:id="rId22"/>
    <p:sldId id="266" r:id="rId23"/>
  </p:sldIdLst>
  <p:sldSz cx="18288000" cy="10287000"/>
  <p:notesSz cx="6858000" cy="9144000"/>
  <p:embeddedFontLst>
    <p:embeddedFont>
      <p:font typeface="Bahnschrift" panose="020B0502040204020203" pitchFamily="3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Josefin Sans Bold" pitchFamily="2" charset="0"/>
      <p:boldItalic r:id="rId35"/>
    </p:embeddedFont>
    <p:embeddedFont>
      <p:font typeface="Poppins Bold" panose="020B0604020202020204" charset="0"/>
      <p:regular r:id="rId36"/>
    </p:embeddedFont>
    <p:embeddedFont>
      <p:font typeface="Segoe UI" panose="020B0502040204020203" pitchFamily="34" charset="0"/>
      <p:regular r:id="rId37"/>
      <p:bold r:id="rId38"/>
      <p:italic r:id="rId39"/>
      <p:boldItalic r:id="rId40"/>
    </p:embeddedFont>
    <p:embeddedFont>
      <p:font typeface="Segoe UI Variable Display" pitchFamily="2" charset="0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981"/>
    <a:srgbClr val="724AEF"/>
    <a:srgbClr val="00C853"/>
    <a:srgbClr val="1565C0"/>
    <a:srgbClr val="F59E0B"/>
    <a:srgbClr val="3B82F6"/>
    <a:srgbClr val="77933C"/>
    <a:srgbClr val="06B6D4"/>
    <a:srgbClr val="953735"/>
    <a:srgbClr val="8B5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4305D-6C10-404F-88C7-EE3862529E76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7D76C-621A-4523-984C-6E7FE940F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6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7D76C-621A-4523-984C-6E7FE940F1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6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7D76C-621A-4523-984C-6E7FE940F1D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54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7D76C-621A-4523-984C-6E7FE940F1D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71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5884" y="3451951"/>
            <a:ext cx="2393887" cy="2393887"/>
          </a:xfrm>
          <a:custGeom>
            <a:avLst/>
            <a:gdLst/>
            <a:ahLst/>
            <a:cxnLst/>
            <a:rect l="l" t="t" r="r" b="b"/>
            <a:pathLst>
              <a:path w="2393887" h="2393887">
                <a:moveTo>
                  <a:pt x="0" y="0"/>
                </a:moveTo>
                <a:lnTo>
                  <a:pt x="2393886" y="0"/>
                </a:lnTo>
                <a:lnTo>
                  <a:pt x="2393886" y="2393886"/>
                </a:lnTo>
                <a:lnTo>
                  <a:pt x="0" y="2393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flipV="1"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7600950" y="751370"/>
            <a:ext cx="3086100" cy="542234"/>
            <a:chOff x="0" y="0"/>
            <a:chExt cx="812800" cy="1428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42811"/>
            </a:xfrm>
            <a:custGeom>
              <a:avLst/>
              <a:gdLst/>
              <a:ahLst/>
              <a:cxnLst/>
              <a:rect l="l" t="t" r="r" b="b"/>
              <a:pathLst>
                <a:path w="812800" h="142811">
                  <a:moveTo>
                    <a:pt x="71405" y="0"/>
                  </a:moveTo>
                  <a:lnTo>
                    <a:pt x="741395" y="0"/>
                  </a:lnTo>
                  <a:cubicBezTo>
                    <a:pt x="780831" y="0"/>
                    <a:pt x="812800" y="31969"/>
                    <a:pt x="812800" y="71405"/>
                  </a:cubicBezTo>
                  <a:lnTo>
                    <a:pt x="812800" y="71405"/>
                  </a:lnTo>
                  <a:cubicBezTo>
                    <a:pt x="812800" y="110841"/>
                    <a:pt x="780831" y="142811"/>
                    <a:pt x="741395" y="142811"/>
                  </a:cubicBezTo>
                  <a:lnTo>
                    <a:pt x="71405" y="142811"/>
                  </a:lnTo>
                  <a:cubicBezTo>
                    <a:pt x="31969" y="142811"/>
                    <a:pt x="0" y="110841"/>
                    <a:pt x="0" y="71405"/>
                  </a:cubicBezTo>
                  <a:lnTo>
                    <a:pt x="0" y="71405"/>
                  </a:lnTo>
                  <a:cubicBezTo>
                    <a:pt x="0" y="31969"/>
                    <a:pt x="31969" y="0"/>
                    <a:pt x="71405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190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16499998" y="3451951"/>
            <a:ext cx="2393887" cy="2393887"/>
          </a:xfrm>
          <a:custGeom>
            <a:avLst/>
            <a:gdLst/>
            <a:ahLst/>
            <a:cxnLst/>
            <a:rect l="l" t="t" r="r" b="b"/>
            <a:pathLst>
              <a:path w="2393887" h="2393887">
                <a:moveTo>
                  <a:pt x="2393886" y="0"/>
                </a:moveTo>
                <a:lnTo>
                  <a:pt x="0" y="0"/>
                </a:lnTo>
                <a:lnTo>
                  <a:pt x="0" y="2393886"/>
                </a:lnTo>
                <a:lnTo>
                  <a:pt x="2393886" y="2393886"/>
                </a:lnTo>
                <a:lnTo>
                  <a:pt x="23938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001274" y="922682"/>
            <a:ext cx="212036" cy="21203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074690" y="922682"/>
            <a:ext cx="212036" cy="21203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922682"/>
            <a:ext cx="212036" cy="21203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049351" y="922682"/>
            <a:ext cx="212036" cy="21203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028700" y="6719114"/>
            <a:ext cx="1986600" cy="328692"/>
          </a:xfrm>
          <a:custGeom>
            <a:avLst/>
            <a:gdLst/>
            <a:ahLst/>
            <a:cxnLst/>
            <a:rect l="l" t="t" r="r" b="b"/>
            <a:pathLst>
              <a:path w="1986600" h="328692">
                <a:moveTo>
                  <a:pt x="0" y="0"/>
                </a:moveTo>
                <a:lnTo>
                  <a:pt x="1986600" y="0"/>
                </a:lnTo>
                <a:lnTo>
                  <a:pt x="1986600" y="328692"/>
                </a:lnTo>
                <a:lnTo>
                  <a:pt x="0" y="3286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>
            <a:off x="15272700" y="6719114"/>
            <a:ext cx="1986600" cy="328692"/>
          </a:xfrm>
          <a:custGeom>
            <a:avLst/>
            <a:gdLst/>
            <a:ahLst/>
            <a:cxnLst/>
            <a:rect l="l" t="t" r="r" b="b"/>
            <a:pathLst>
              <a:path w="1986600" h="328692">
                <a:moveTo>
                  <a:pt x="1986600" y="0"/>
                </a:moveTo>
                <a:lnTo>
                  <a:pt x="0" y="0"/>
                </a:lnTo>
                <a:lnTo>
                  <a:pt x="0" y="328692"/>
                </a:lnTo>
                <a:lnTo>
                  <a:pt x="1986600" y="328692"/>
                </a:lnTo>
                <a:lnTo>
                  <a:pt x="19866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452082" y="3940088"/>
            <a:ext cx="15394470" cy="2389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4000"/>
              </a:lnSpc>
              <a:spcBef>
                <a:spcPct val="0"/>
              </a:spcBef>
            </a:pPr>
            <a:r>
              <a:rPr lang="en-US" sz="7000" b="1" i="0" dirty="0">
                <a:solidFill>
                  <a:srgbClr val="FFFF00"/>
                </a:solidFill>
                <a:effectLst/>
                <a:latin typeface="Segoe UI Variable Display" pitchFamily="2" charset="0"/>
                <a:ea typeface="Segoe UI Symbol" panose="020B0502040204020203" pitchFamily="34" charset="0"/>
              </a:rPr>
              <a:t>HỆ THỐNG THỰC THI LỆNH TỪ XA (REMOTE COMMAND)</a:t>
            </a:r>
            <a:endParaRPr lang="en-US" sz="7000" b="1" spc="-1418" dirty="0">
              <a:solidFill>
                <a:srgbClr val="FFFF00"/>
              </a:solidFill>
              <a:latin typeface="Segoe UI Variable Display" pitchFamily="2" charset="0"/>
              <a:ea typeface="Segoe UI Symbol" panose="020B0502040204020203" pitchFamily="34" charset="0"/>
              <a:cs typeface="Poppins Medium"/>
              <a:sym typeface="Poppins Mediu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505072" y="1011873"/>
            <a:ext cx="5277853" cy="321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3600" b="1" spc="-56" dirty="0" err="1">
                <a:solidFill>
                  <a:srgbClr val="012AD2"/>
                </a:solidFill>
                <a:latin typeface="Poppins Bold"/>
                <a:ea typeface="Poppins Bold"/>
                <a:cs typeface="Poppins Bold"/>
                <a:sym typeface="Poppins Bold"/>
              </a:rPr>
              <a:t>Nhóm</a:t>
            </a:r>
            <a:r>
              <a:rPr lang="en-US" sz="3600" b="1" spc="-56" dirty="0">
                <a:solidFill>
                  <a:srgbClr val="012AD2"/>
                </a:solidFill>
                <a:latin typeface="Poppins Bold"/>
                <a:ea typeface="Poppins Bold"/>
                <a:cs typeface="Poppins Bold"/>
                <a:sym typeface="Poppins Bold"/>
              </a:rPr>
              <a:t> 7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953944" y="7979627"/>
            <a:ext cx="6380108" cy="13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200" spc="-84" dirty="0" err="1">
                <a:solidFill>
                  <a:srgbClr val="EFDDFF"/>
                </a:solidFill>
                <a:latin typeface="Bahnschrift" panose="020B0502040204020203" pitchFamily="34" charset="0"/>
                <a:ea typeface="Poppins Italics"/>
                <a:cs typeface="Poppins Italics"/>
                <a:sym typeface="Poppins Italics"/>
              </a:rPr>
              <a:t>Môn</a:t>
            </a:r>
            <a:r>
              <a:rPr lang="en-US" sz="3200" spc="-84" dirty="0">
                <a:solidFill>
                  <a:srgbClr val="EFDDFF"/>
                </a:solidFill>
                <a:latin typeface="Bahnschrift" panose="020B0502040204020203" pitchFamily="34" charset="0"/>
                <a:ea typeface="Poppins Italics"/>
                <a:cs typeface="Poppins Italics"/>
                <a:sym typeface="Poppins Italics"/>
              </a:rPr>
              <a:t>: </a:t>
            </a:r>
            <a:r>
              <a:rPr lang="en-US" sz="3200" spc="-84" dirty="0" err="1">
                <a:solidFill>
                  <a:srgbClr val="EFDDFF"/>
                </a:solidFill>
                <a:latin typeface="Bahnschrift" panose="020B0502040204020203" pitchFamily="34" charset="0"/>
                <a:ea typeface="Poppins Italics"/>
                <a:cs typeface="Poppins Italics"/>
                <a:sym typeface="Poppins Italics"/>
              </a:rPr>
              <a:t>Lập</a:t>
            </a:r>
            <a:r>
              <a:rPr lang="en-US" sz="3200" spc="-84" dirty="0">
                <a:solidFill>
                  <a:srgbClr val="EFDDFF"/>
                </a:solidFill>
                <a:latin typeface="Bahnschrift" panose="020B0502040204020203" pitchFamily="34" charset="0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3200" spc="-84" dirty="0" err="1">
                <a:solidFill>
                  <a:srgbClr val="EFDDFF"/>
                </a:solidFill>
                <a:latin typeface="Bahnschrift" panose="020B0502040204020203" pitchFamily="34" charset="0"/>
                <a:ea typeface="Poppins Italics"/>
                <a:cs typeface="Poppins Italics"/>
                <a:sym typeface="Poppins Italics"/>
              </a:rPr>
              <a:t>trình</a:t>
            </a:r>
            <a:r>
              <a:rPr lang="en-US" sz="3200" spc="-84" dirty="0">
                <a:solidFill>
                  <a:srgbClr val="EFDDFF"/>
                </a:solidFill>
                <a:latin typeface="Bahnschrift" panose="020B0502040204020203" pitchFamily="34" charset="0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3200" spc="-84" dirty="0" err="1">
                <a:solidFill>
                  <a:srgbClr val="EFDDFF"/>
                </a:solidFill>
                <a:latin typeface="Bahnschrift" panose="020B0502040204020203" pitchFamily="34" charset="0"/>
                <a:ea typeface="Poppins Italics"/>
                <a:cs typeface="Poppins Italics"/>
                <a:sym typeface="Poppins Italics"/>
              </a:rPr>
              <a:t>mạng</a:t>
            </a:r>
            <a:br>
              <a:rPr lang="en-US" sz="3200" spc="-84" dirty="0">
                <a:solidFill>
                  <a:srgbClr val="EFDDFF"/>
                </a:solidFill>
                <a:latin typeface="Bahnschrift" panose="020B0502040204020203" pitchFamily="34" charset="0"/>
                <a:ea typeface="Poppins Italics"/>
                <a:cs typeface="Poppins Italics"/>
                <a:sym typeface="Poppins Italics"/>
              </a:rPr>
            </a:br>
            <a:r>
              <a:rPr lang="en-US" sz="3200" spc="-84" dirty="0">
                <a:solidFill>
                  <a:srgbClr val="EFDDFF"/>
                </a:solidFill>
                <a:latin typeface="Bahnschrift" panose="020B0502040204020203" pitchFamily="34" charset="0"/>
                <a:ea typeface="Poppins Italics"/>
                <a:cs typeface="Poppins Italics"/>
                <a:sym typeface="Poppins Italics"/>
              </a:rPr>
              <a:t>GVHD: Mai Ngọc </a:t>
            </a:r>
            <a:r>
              <a:rPr lang="en-US" sz="3200" spc="-84" dirty="0" err="1">
                <a:solidFill>
                  <a:srgbClr val="EFDDFF"/>
                </a:solidFill>
                <a:latin typeface="Bahnschrift" panose="020B0502040204020203" pitchFamily="34" charset="0"/>
                <a:ea typeface="Poppins Italics"/>
                <a:cs typeface="Poppins Italics"/>
                <a:sym typeface="Poppins Italics"/>
              </a:rPr>
              <a:t>Châu</a:t>
            </a:r>
            <a:endParaRPr lang="en-US" sz="3200" spc="-84" dirty="0">
              <a:solidFill>
                <a:srgbClr val="EFDDFF"/>
              </a:solidFill>
              <a:latin typeface="Bahnschrift" panose="020B0502040204020203" pitchFamily="34" charset="0"/>
              <a:ea typeface="Poppins Italics"/>
              <a:cs typeface="Poppins Italics"/>
              <a:sym typeface="Poppins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 flipV="1">
            <a:off x="1028700" y="601318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 flipH="1">
            <a:off x="16535400" y="8500711"/>
            <a:ext cx="1748189" cy="1748189"/>
          </a:xfrm>
          <a:custGeom>
            <a:avLst/>
            <a:gdLst/>
            <a:ahLst/>
            <a:cxnLst/>
            <a:rect l="l" t="t" r="r" b="b"/>
            <a:pathLst>
              <a:path w="1748189" h="1748189">
                <a:moveTo>
                  <a:pt x="1748190" y="0"/>
                </a:moveTo>
                <a:lnTo>
                  <a:pt x="0" y="0"/>
                </a:lnTo>
                <a:lnTo>
                  <a:pt x="0" y="1748190"/>
                </a:lnTo>
                <a:lnTo>
                  <a:pt x="1748190" y="1748190"/>
                </a:lnTo>
                <a:lnTo>
                  <a:pt x="17481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01274" y="495300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495300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495300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495300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7924800" y="1562100"/>
            <a:ext cx="2103384" cy="348014"/>
          </a:xfrm>
          <a:custGeom>
            <a:avLst/>
            <a:gdLst/>
            <a:ahLst/>
            <a:cxnLst/>
            <a:rect l="l" t="t" r="r" b="b"/>
            <a:pathLst>
              <a:path w="2103384" h="348014">
                <a:moveTo>
                  <a:pt x="0" y="0"/>
                </a:moveTo>
                <a:lnTo>
                  <a:pt x="2103384" y="0"/>
                </a:lnTo>
                <a:lnTo>
                  <a:pt x="2103384" y="348015"/>
                </a:lnTo>
                <a:lnTo>
                  <a:pt x="0" y="348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888BCBC-AE6D-4B7B-80D3-69D8110DD3FC}"/>
              </a:ext>
            </a:extLst>
          </p:cNvPr>
          <p:cNvGrpSpPr/>
          <p:nvPr/>
        </p:nvGrpSpPr>
        <p:grpSpPr>
          <a:xfrm>
            <a:off x="1134720" y="2565001"/>
            <a:ext cx="15722204" cy="1891756"/>
            <a:chOff x="8404536" y="3176962"/>
            <a:chExt cx="9045264" cy="2523581"/>
          </a:xfrm>
        </p:grpSpPr>
        <p:sp>
          <p:nvSpPr>
            <p:cNvPr id="31" name="TextBox 31"/>
            <p:cNvSpPr txBox="1"/>
            <p:nvPr/>
          </p:nvSpPr>
          <p:spPr>
            <a:xfrm>
              <a:off x="8633135" y="3543301"/>
              <a:ext cx="8591151" cy="17927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3500" b="1" i="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Nhu</a:t>
              </a:r>
              <a:r>
                <a:rPr lang="en-US" sz="35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500" b="1" i="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cầu</a:t>
              </a:r>
              <a:r>
                <a:rPr lang="en-US" sz="35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500" b="1" i="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điều</a:t>
              </a:r>
              <a:r>
                <a:rPr lang="en-US" sz="35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500" b="1" i="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khiển</a:t>
              </a:r>
              <a:r>
                <a:rPr lang="en-US" sz="35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500" b="1" i="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từ</a:t>
              </a:r>
              <a:r>
                <a:rPr lang="en-US" sz="35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500" b="1" i="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xa</a:t>
              </a:r>
              <a:r>
                <a:rPr lang="en-US" sz="35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Quản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trị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hệ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thống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từ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xa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ngày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càng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phổ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biến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doanh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nghiệp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nhân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36" name="Group 2">
              <a:extLst>
                <a:ext uri="{FF2B5EF4-FFF2-40B4-BE49-F238E27FC236}">
                  <a16:creationId xmlns:a16="http://schemas.microsoft.com/office/drawing/2014/main" id="{95841D16-601D-432A-AAF5-5BD2E47026BD}"/>
                </a:ext>
              </a:extLst>
            </p:cNvPr>
            <p:cNvGrpSpPr/>
            <p:nvPr/>
          </p:nvGrpSpPr>
          <p:grpSpPr>
            <a:xfrm>
              <a:off x="8404536" y="3176962"/>
              <a:ext cx="9045264" cy="2523581"/>
              <a:chOff x="0" y="-38100"/>
              <a:chExt cx="1628869" cy="603509"/>
            </a:xfrm>
          </p:grpSpPr>
          <p:sp>
            <p:nvSpPr>
              <p:cNvPr id="37" name="Freeform 3">
                <a:extLst>
                  <a:ext uri="{FF2B5EF4-FFF2-40B4-BE49-F238E27FC236}">
                    <a16:creationId xmlns:a16="http://schemas.microsoft.com/office/drawing/2014/main" id="{92173843-D450-43A0-96ED-D10A757ADA0E}"/>
                  </a:ext>
                </a:extLst>
              </p:cNvPr>
              <p:cNvSpPr/>
              <p:nvPr/>
            </p:nvSpPr>
            <p:spPr>
              <a:xfrm>
                <a:off x="0" y="5549"/>
                <a:ext cx="1628869" cy="559860"/>
              </a:xfrm>
              <a:custGeom>
                <a:avLst/>
                <a:gdLst/>
                <a:ahLst/>
                <a:cxnLst/>
                <a:rect l="l" t="t" r="r" b="b"/>
                <a:pathLst>
                  <a:path w="1628869" h="559860">
                    <a:moveTo>
                      <a:pt x="25036" y="0"/>
                    </a:moveTo>
                    <a:lnTo>
                      <a:pt x="1603833" y="0"/>
                    </a:lnTo>
                    <a:cubicBezTo>
                      <a:pt x="1610473" y="0"/>
                      <a:pt x="1616841" y="2638"/>
                      <a:pt x="1621536" y="7333"/>
                    </a:cubicBezTo>
                    <a:cubicBezTo>
                      <a:pt x="1626231" y="12028"/>
                      <a:pt x="1628869" y="18396"/>
                      <a:pt x="1628869" y="25036"/>
                    </a:cubicBezTo>
                    <a:lnTo>
                      <a:pt x="1628869" y="534824"/>
                    </a:lnTo>
                    <a:cubicBezTo>
                      <a:pt x="1628869" y="541464"/>
                      <a:pt x="1626231" y="547832"/>
                      <a:pt x="1621536" y="552528"/>
                    </a:cubicBezTo>
                    <a:cubicBezTo>
                      <a:pt x="1616841" y="557223"/>
                      <a:pt x="1610473" y="559860"/>
                      <a:pt x="1603833" y="559860"/>
                    </a:cubicBezTo>
                    <a:lnTo>
                      <a:pt x="25036" y="559860"/>
                    </a:lnTo>
                    <a:cubicBezTo>
                      <a:pt x="18396" y="559860"/>
                      <a:pt x="12028" y="557223"/>
                      <a:pt x="7333" y="552528"/>
                    </a:cubicBezTo>
                    <a:cubicBezTo>
                      <a:pt x="2638" y="547832"/>
                      <a:pt x="0" y="541464"/>
                      <a:pt x="0" y="534824"/>
                    </a:cubicBezTo>
                    <a:lnTo>
                      <a:pt x="0" y="25036"/>
                    </a:lnTo>
                    <a:cubicBezTo>
                      <a:pt x="0" y="18396"/>
                      <a:pt x="2638" y="12028"/>
                      <a:pt x="7333" y="7333"/>
                    </a:cubicBezTo>
                    <a:cubicBezTo>
                      <a:pt x="12028" y="2638"/>
                      <a:pt x="18396" y="0"/>
                      <a:pt x="25036" y="0"/>
                    </a:cubicBezTo>
                    <a:close/>
                  </a:path>
                </a:pathLst>
              </a:custGeom>
              <a:ln w="9525" cap="sq">
                <a:solidFill>
                  <a:srgbClr val="EFDDFF">
                    <a:alpha val="60000"/>
                  </a:srgbClr>
                </a:solidFill>
                <a:prstDash val="solid"/>
                <a:miter/>
              </a:ln>
            </p:spPr>
          </p:sp>
          <p:sp>
            <p:nvSpPr>
              <p:cNvPr id="38" name="TextBox 4">
                <a:extLst>
                  <a:ext uri="{FF2B5EF4-FFF2-40B4-BE49-F238E27FC236}">
                    <a16:creationId xmlns:a16="http://schemas.microsoft.com/office/drawing/2014/main" id="{3F79414D-08AA-40F4-91EB-709E0A04AB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28869" cy="5979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41" name="Rectangle 1">
            <a:extLst>
              <a:ext uri="{FF2B5EF4-FFF2-40B4-BE49-F238E27FC236}">
                <a16:creationId xmlns:a16="http://schemas.microsoft.com/office/drawing/2014/main" id="{FF6C678E-48EC-4A59-ABE2-4BEE3D734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5" name="TextBox 29">
            <a:extLst>
              <a:ext uri="{FF2B5EF4-FFF2-40B4-BE49-F238E27FC236}">
                <a16:creationId xmlns:a16="http://schemas.microsoft.com/office/drawing/2014/main" id="{B48C7726-13C1-47BC-BF68-03AEC2DE204C}"/>
              </a:ext>
            </a:extLst>
          </p:cNvPr>
          <p:cNvSpPr txBox="1"/>
          <p:nvPr/>
        </p:nvSpPr>
        <p:spPr>
          <a:xfrm>
            <a:off x="1148894" y="552584"/>
            <a:ext cx="7511702" cy="1850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359"/>
              </a:lnSpc>
            </a:pP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Đặt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vấn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đề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8758294-A216-4E0F-B758-EF24679661D5}"/>
              </a:ext>
            </a:extLst>
          </p:cNvPr>
          <p:cNvGrpSpPr/>
          <p:nvPr/>
        </p:nvGrpSpPr>
        <p:grpSpPr>
          <a:xfrm>
            <a:off x="1120139" y="4934707"/>
            <a:ext cx="15736785" cy="2018572"/>
            <a:chOff x="8404536" y="3336278"/>
            <a:chExt cx="9045264" cy="2341062"/>
          </a:xfrm>
        </p:grpSpPr>
        <p:sp>
          <p:nvSpPr>
            <p:cNvPr id="65" name="TextBox 31">
              <a:extLst>
                <a:ext uri="{FF2B5EF4-FFF2-40B4-BE49-F238E27FC236}">
                  <a16:creationId xmlns:a16="http://schemas.microsoft.com/office/drawing/2014/main" id="{97B35460-143D-4F81-A02B-CE1138D5E1BE}"/>
                </a:ext>
              </a:extLst>
            </p:cNvPr>
            <p:cNvSpPr txBox="1"/>
            <p:nvPr/>
          </p:nvSpPr>
          <p:spPr>
            <a:xfrm>
              <a:off x="8633135" y="3543300"/>
              <a:ext cx="8591151" cy="17927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3500" b="1" i="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Yêu</a:t>
              </a:r>
              <a:r>
                <a:rPr lang="en-US" sz="35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500" b="1" i="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cầu</a:t>
              </a:r>
              <a:r>
                <a:rPr lang="en-US" sz="35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500" b="1" i="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realtime</a:t>
              </a:r>
              <a:r>
                <a:rPr lang="en-US" sz="35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Các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hệ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thống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quản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trị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cần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thao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tác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nhanh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phản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hồi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tức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thời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không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trễ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66" name="Group 2">
              <a:extLst>
                <a:ext uri="{FF2B5EF4-FFF2-40B4-BE49-F238E27FC236}">
                  <a16:creationId xmlns:a16="http://schemas.microsoft.com/office/drawing/2014/main" id="{F612509A-D16A-4A14-A8B2-E2B726AA6457}"/>
                </a:ext>
              </a:extLst>
            </p:cNvPr>
            <p:cNvGrpSpPr/>
            <p:nvPr/>
          </p:nvGrpSpPr>
          <p:grpSpPr>
            <a:xfrm>
              <a:off x="8404536" y="3336278"/>
              <a:ext cx="9045264" cy="2341062"/>
              <a:chOff x="0" y="0"/>
              <a:chExt cx="1628869" cy="559860"/>
            </a:xfrm>
          </p:grpSpPr>
          <p:sp>
            <p:nvSpPr>
              <p:cNvPr id="67" name="Freeform 3">
                <a:extLst>
                  <a:ext uri="{FF2B5EF4-FFF2-40B4-BE49-F238E27FC236}">
                    <a16:creationId xmlns:a16="http://schemas.microsoft.com/office/drawing/2014/main" id="{4E1F0E96-F214-4E18-AEF0-88FD84C8CE5D}"/>
                  </a:ext>
                </a:extLst>
              </p:cNvPr>
              <p:cNvSpPr/>
              <p:nvPr/>
            </p:nvSpPr>
            <p:spPr>
              <a:xfrm>
                <a:off x="0" y="0"/>
                <a:ext cx="1628869" cy="559860"/>
              </a:xfrm>
              <a:custGeom>
                <a:avLst/>
                <a:gdLst/>
                <a:ahLst/>
                <a:cxnLst/>
                <a:rect l="l" t="t" r="r" b="b"/>
                <a:pathLst>
                  <a:path w="1628869" h="559860">
                    <a:moveTo>
                      <a:pt x="25036" y="0"/>
                    </a:moveTo>
                    <a:lnTo>
                      <a:pt x="1603833" y="0"/>
                    </a:lnTo>
                    <a:cubicBezTo>
                      <a:pt x="1610473" y="0"/>
                      <a:pt x="1616841" y="2638"/>
                      <a:pt x="1621536" y="7333"/>
                    </a:cubicBezTo>
                    <a:cubicBezTo>
                      <a:pt x="1626231" y="12028"/>
                      <a:pt x="1628869" y="18396"/>
                      <a:pt x="1628869" y="25036"/>
                    </a:cubicBezTo>
                    <a:lnTo>
                      <a:pt x="1628869" y="534824"/>
                    </a:lnTo>
                    <a:cubicBezTo>
                      <a:pt x="1628869" y="541464"/>
                      <a:pt x="1626231" y="547832"/>
                      <a:pt x="1621536" y="552528"/>
                    </a:cubicBezTo>
                    <a:cubicBezTo>
                      <a:pt x="1616841" y="557223"/>
                      <a:pt x="1610473" y="559860"/>
                      <a:pt x="1603833" y="559860"/>
                    </a:cubicBezTo>
                    <a:lnTo>
                      <a:pt x="25036" y="559860"/>
                    </a:lnTo>
                    <a:cubicBezTo>
                      <a:pt x="18396" y="559860"/>
                      <a:pt x="12028" y="557223"/>
                      <a:pt x="7333" y="552528"/>
                    </a:cubicBezTo>
                    <a:cubicBezTo>
                      <a:pt x="2638" y="547832"/>
                      <a:pt x="0" y="541464"/>
                      <a:pt x="0" y="534824"/>
                    </a:cubicBezTo>
                    <a:lnTo>
                      <a:pt x="0" y="25036"/>
                    </a:lnTo>
                    <a:cubicBezTo>
                      <a:pt x="0" y="18396"/>
                      <a:pt x="2638" y="12028"/>
                      <a:pt x="7333" y="7333"/>
                    </a:cubicBezTo>
                    <a:cubicBezTo>
                      <a:pt x="12028" y="2638"/>
                      <a:pt x="18396" y="0"/>
                      <a:pt x="25036" y="0"/>
                    </a:cubicBezTo>
                    <a:close/>
                  </a:path>
                </a:pathLst>
              </a:custGeom>
              <a:ln w="9525" cap="sq">
                <a:solidFill>
                  <a:srgbClr val="EFDDFF">
                    <a:alpha val="60000"/>
                  </a:srgbClr>
                </a:solidFill>
                <a:prstDash val="solid"/>
                <a:miter/>
              </a:ln>
            </p:spPr>
          </p:sp>
          <p:sp>
            <p:nvSpPr>
              <p:cNvPr id="68" name="TextBox 4">
                <a:extLst>
                  <a:ext uri="{FF2B5EF4-FFF2-40B4-BE49-F238E27FC236}">
                    <a16:creationId xmlns:a16="http://schemas.microsoft.com/office/drawing/2014/main" id="{31C66EC4-C2D5-421D-B971-AEE0F27A419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28869" cy="5979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DEC1481-FA71-42CA-83E0-F4185E41CBAF}"/>
              </a:ext>
            </a:extLst>
          </p:cNvPr>
          <p:cNvGrpSpPr/>
          <p:nvPr/>
        </p:nvGrpSpPr>
        <p:grpSpPr>
          <a:xfrm>
            <a:off x="1074419" y="7429240"/>
            <a:ext cx="15782505" cy="1989339"/>
            <a:chOff x="8404536" y="3336278"/>
            <a:chExt cx="9045264" cy="2341062"/>
          </a:xfrm>
        </p:grpSpPr>
        <p:sp>
          <p:nvSpPr>
            <p:cNvPr id="70" name="TextBox 31">
              <a:extLst>
                <a:ext uri="{FF2B5EF4-FFF2-40B4-BE49-F238E27FC236}">
                  <a16:creationId xmlns:a16="http://schemas.microsoft.com/office/drawing/2014/main" id="{88627FC2-D711-4AAA-8C30-07C2B593D3B6}"/>
                </a:ext>
              </a:extLst>
            </p:cNvPr>
            <p:cNvSpPr txBox="1"/>
            <p:nvPr/>
          </p:nvSpPr>
          <p:spPr>
            <a:xfrm>
              <a:off x="8633135" y="3543300"/>
              <a:ext cx="8591151" cy="17927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3500" b="1" i="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Kiến</a:t>
              </a:r>
              <a:r>
                <a:rPr lang="en-US" sz="35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500" b="1" i="0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thức</a:t>
              </a:r>
              <a:r>
                <a:rPr lang="en-US" sz="3500" b="1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Socket: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Cần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hiểu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rõ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cách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giao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tiếp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mạng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qua TCP Socket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xử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lý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lệnh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hệ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điều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hành</a:t>
              </a:r>
              <a:r>
                <a:rPr lang="en-US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71" name="Group 2">
              <a:extLst>
                <a:ext uri="{FF2B5EF4-FFF2-40B4-BE49-F238E27FC236}">
                  <a16:creationId xmlns:a16="http://schemas.microsoft.com/office/drawing/2014/main" id="{4AC85FEA-2820-43E0-BC1F-64508F512887}"/>
                </a:ext>
              </a:extLst>
            </p:cNvPr>
            <p:cNvGrpSpPr/>
            <p:nvPr/>
          </p:nvGrpSpPr>
          <p:grpSpPr>
            <a:xfrm>
              <a:off x="8404536" y="3336278"/>
              <a:ext cx="9045264" cy="2341062"/>
              <a:chOff x="0" y="0"/>
              <a:chExt cx="1628869" cy="559860"/>
            </a:xfrm>
          </p:grpSpPr>
          <p:sp>
            <p:nvSpPr>
              <p:cNvPr id="72" name="Freeform 3">
                <a:extLst>
                  <a:ext uri="{FF2B5EF4-FFF2-40B4-BE49-F238E27FC236}">
                    <a16:creationId xmlns:a16="http://schemas.microsoft.com/office/drawing/2014/main" id="{916658A8-8663-483A-9E0F-0F5DB1233754}"/>
                  </a:ext>
                </a:extLst>
              </p:cNvPr>
              <p:cNvSpPr/>
              <p:nvPr/>
            </p:nvSpPr>
            <p:spPr>
              <a:xfrm>
                <a:off x="0" y="0"/>
                <a:ext cx="1628869" cy="559860"/>
              </a:xfrm>
              <a:custGeom>
                <a:avLst/>
                <a:gdLst/>
                <a:ahLst/>
                <a:cxnLst/>
                <a:rect l="l" t="t" r="r" b="b"/>
                <a:pathLst>
                  <a:path w="1628869" h="559860">
                    <a:moveTo>
                      <a:pt x="25036" y="0"/>
                    </a:moveTo>
                    <a:lnTo>
                      <a:pt x="1603833" y="0"/>
                    </a:lnTo>
                    <a:cubicBezTo>
                      <a:pt x="1610473" y="0"/>
                      <a:pt x="1616841" y="2638"/>
                      <a:pt x="1621536" y="7333"/>
                    </a:cubicBezTo>
                    <a:cubicBezTo>
                      <a:pt x="1626231" y="12028"/>
                      <a:pt x="1628869" y="18396"/>
                      <a:pt x="1628869" y="25036"/>
                    </a:cubicBezTo>
                    <a:lnTo>
                      <a:pt x="1628869" y="534824"/>
                    </a:lnTo>
                    <a:cubicBezTo>
                      <a:pt x="1628869" y="541464"/>
                      <a:pt x="1626231" y="547832"/>
                      <a:pt x="1621536" y="552528"/>
                    </a:cubicBezTo>
                    <a:cubicBezTo>
                      <a:pt x="1616841" y="557223"/>
                      <a:pt x="1610473" y="559860"/>
                      <a:pt x="1603833" y="559860"/>
                    </a:cubicBezTo>
                    <a:lnTo>
                      <a:pt x="25036" y="559860"/>
                    </a:lnTo>
                    <a:cubicBezTo>
                      <a:pt x="18396" y="559860"/>
                      <a:pt x="12028" y="557223"/>
                      <a:pt x="7333" y="552528"/>
                    </a:cubicBezTo>
                    <a:cubicBezTo>
                      <a:pt x="2638" y="547832"/>
                      <a:pt x="0" y="541464"/>
                      <a:pt x="0" y="534824"/>
                    </a:cubicBezTo>
                    <a:lnTo>
                      <a:pt x="0" y="25036"/>
                    </a:lnTo>
                    <a:cubicBezTo>
                      <a:pt x="0" y="18396"/>
                      <a:pt x="2638" y="12028"/>
                      <a:pt x="7333" y="7333"/>
                    </a:cubicBezTo>
                    <a:cubicBezTo>
                      <a:pt x="12028" y="2638"/>
                      <a:pt x="18396" y="0"/>
                      <a:pt x="25036" y="0"/>
                    </a:cubicBezTo>
                    <a:close/>
                  </a:path>
                </a:pathLst>
              </a:custGeom>
              <a:ln w="9525" cap="sq">
                <a:solidFill>
                  <a:srgbClr val="EFDDFF">
                    <a:alpha val="60000"/>
                  </a:srgbClr>
                </a:solidFill>
                <a:prstDash val="solid"/>
                <a:miter/>
              </a:ln>
            </p:spPr>
          </p:sp>
          <p:sp>
            <p:nvSpPr>
              <p:cNvPr id="73" name="TextBox 4">
                <a:extLst>
                  <a:ext uri="{FF2B5EF4-FFF2-40B4-BE49-F238E27FC236}">
                    <a16:creationId xmlns:a16="http://schemas.microsoft.com/office/drawing/2014/main" id="{D7A7DC36-6240-4C2B-BDA6-556E9D1953D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28869" cy="5979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</p:grpSp>
      <p:sp>
        <p:nvSpPr>
          <p:cNvPr id="74" name="Freeform 5">
            <a:extLst>
              <a:ext uri="{FF2B5EF4-FFF2-40B4-BE49-F238E27FC236}">
                <a16:creationId xmlns:a16="http://schemas.microsoft.com/office/drawing/2014/main" id="{AC372F88-525C-4568-A7E8-D00EBD071914}"/>
              </a:ext>
            </a:extLst>
          </p:cNvPr>
          <p:cNvSpPr/>
          <p:nvPr/>
        </p:nvSpPr>
        <p:spPr>
          <a:xfrm>
            <a:off x="0" y="2354356"/>
            <a:ext cx="1698091" cy="2018572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0" y="0"/>
                </a:moveTo>
                <a:lnTo>
                  <a:pt x="2495550" y="0"/>
                </a:lnTo>
                <a:lnTo>
                  <a:pt x="2495550" y="2495550"/>
                </a:lnTo>
                <a:lnTo>
                  <a:pt x="0" y="2495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29381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 flipV="1">
            <a:off x="1028700" y="753718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 rot="5400000" flipH="1" flipV="1">
            <a:off x="15813044" y="7805553"/>
            <a:ext cx="2433170" cy="2433170"/>
          </a:xfrm>
          <a:custGeom>
            <a:avLst/>
            <a:gdLst/>
            <a:ahLst/>
            <a:cxnLst/>
            <a:rect l="l" t="t" r="r" b="b"/>
            <a:pathLst>
              <a:path w="2433170" h="2433170">
                <a:moveTo>
                  <a:pt x="2433170" y="2433170"/>
                </a:moveTo>
                <a:lnTo>
                  <a:pt x="0" y="2433170"/>
                </a:lnTo>
                <a:lnTo>
                  <a:pt x="0" y="0"/>
                </a:lnTo>
                <a:lnTo>
                  <a:pt x="2433170" y="0"/>
                </a:lnTo>
                <a:lnTo>
                  <a:pt x="2433170" y="24331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001274" y="647700"/>
            <a:ext cx="212036" cy="21203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74690" y="647700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647700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49351" y="647700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4729202" y="1782250"/>
            <a:ext cx="2426166" cy="401420"/>
          </a:xfrm>
          <a:custGeom>
            <a:avLst/>
            <a:gdLst/>
            <a:ahLst/>
            <a:cxnLst/>
            <a:rect l="l" t="t" r="r" b="b"/>
            <a:pathLst>
              <a:path w="2426166" h="401420">
                <a:moveTo>
                  <a:pt x="0" y="0"/>
                </a:moveTo>
                <a:lnTo>
                  <a:pt x="2426166" y="0"/>
                </a:lnTo>
                <a:lnTo>
                  <a:pt x="2426166" y="401420"/>
                </a:lnTo>
                <a:lnTo>
                  <a:pt x="0" y="401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057750" y="952430"/>
            <a:ext cx="6245913" cy="1658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3439"/>
              </a:lnSpc>
            </a:pP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Mục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tiêu</a:t>
            </a:r>
            <a:endParaRPr lang="en-US" sz="88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55" name="TextBox 31">
            <a:extLst>
              <a:ext uri="{FF2B5EF4-FFF2-40B4-BE49-F238E27FC236}">
                <a16:creationId xmlns:a16="http://schemas.microsoft.com/office/drawing/2014/main" id="{BC5950CD-12B1-4370-A7C7-36D7466037D6}"/>
              </a:ext>
            </a:extLst>
          </p:cNvPr>
          <p:cNvSpPr txBox="1"/>
          <p:nvPr/>
        </p:nvSpPr>
        <p:spPr>
          <a:xfrm>
            <a:off x="2420116" y="3699601"/>
            <a:ext cx="6423229" cy="206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TCP, port 7000.</a:t>
            </a:r>
          </a:p>
          <a:p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4667380-B68C-4BA1-80A1-3F8C2371244E}"/>
              </a:ext>
            </a:extLst>
          </p:cNvPr>
          <p:cNvGrpSpPr/>
          <p:nvPr/>
        </p:nvGrpSpPr>
        <p:grpSpPr>
          <a:xfrm>
            <a:off x="2123599" y="2813539"/>
            <a:ext cx="6762750" cy="2747462"/>
            <a:chOff x="838200" y="2564999"/>
            <a:chExt cx="6762750" cy="2747462"/>
          </a:xfrm>
        </p:grpSpPr>
        <p:sp>
          <p:nvSpPr>
            <p:cNvPr id="57" name="Freeform 3">
              <a:extLst>
                <a:ext uri="{FF2B5EF4-FFF2-40B4-BE49-F238E27FC236}">
                  <a16:creationId xmlns:a16="http://schemas.microsoft.com/office/drawing/2014/main" id="{7F80F0DD-D23D-484A-A25F-E4AAAE27CC58}"/>
                </a:ext>
              </a:extLst>
            </p:cNvPr>
            <p:cNvSpPr/>
            <p:nvPr/>
          </p:nvSpPr>
          <p:spPr>
            <a:xfrm>
              <a:off x="838200" y="2763710"/>
              <a:ext cx="6762750" cy="2548751"/>
            </a:xfrm>
            <a:custGeom>
              <a:avLst/>
              <a:gdLst/>
              <a:ahLst/>
              <a:cxnLst/>
              <a:rect l="l" t="t" r="r" b="b"/>
              <a:pathLst>
                <a:path w="1628869" h="559860">
                  <a:moveTo>
                    <a:pt x="25036" y="0"/>
                  </a:moveTo>
                  <a:lnTo>
                    <a:pt x="1603833" y="0"/>
                  </a:lnTo>
                  <a:cubicBezTo>
                    <a:pt x="1610473" y="0"/>
                    <a:pt x="1616841" y="2638"/>
                    <a:pt x="1621536" y="7333"/>
                  </a:cubicBezTo>
                  <a:cubicBezTo>
                    <a:pt x="1626231" y="12028"/>
                    <a:pt x="1628869" y="18396"/>
                    <a:pt x="1628869" y="25036"/>
                  </a:cubicBezTo>
                  <a:lnTo>
                    <a:pt x="1628869" y="534824"/>
                  </a:lnTo>
                  <a:cubicBezTo>
                    <a:pt x="1628869" y="541464"/>
                    <a:pt x="1626231" y="547832"/>
                    <a:pt x="1621536" y="552528"/>
                  </a:cubicBezTo>
                  <a:cubicBezTo>
                    <a:pt x="1616841" y="557223"/>
                    <a:pt x="1610473" y="559860"/>
                    <a:pt x="1603833" y="559860"/>
                  </a:cubicBezTo>
                  <a:lnTo>
                    <a:pt x="25036" y="559860"/>
                  </a:lnTo>
                  <a:cubicBezTo>
                    <a:pt x="18396" y="559860"/>
                    <a:pt x="12028" y="557223"/>
                    <a:pt x="7333" y="552528"/>
                  </a:cubicBezTo>
                  <a:cubicBezTo>
                    <a:pt x="2638" y="547832"/>
                    <a:pt x="0" y="541464"/>
                    <a:pt x="0" y="534824"/>
                  </a:cubicBezTo>
                  <a:lnTo>
                    <a:pt x="0" y="25036"/>
                  </a:lnTo>
                  <a:cubicBezTo>
                    <a:pt x="0" y="18396"/>
                    <a:pt x="2638" y="12028"/>
                    <a:pt x="7333" y="7333"/>
                  </a:cubicBezTo>
                  <a:cubicBezTo>
                    <a:pt x="12028" y="2638"/>
                    <a:pt x="18396" y="0"/>
                    <a:pt x="25036" y="0"/>
                  </a:cubicBezTo>
                  <a:close/>
                </a:path>
              </a:pathLst>
            </a:custGeom>
            <a:ln w="9525" cap="sq">
              <a:solidFill>
                <a:srgbClr val="EFDDFF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58" name="TextBox 4">
              <a:extLst>
                <a:ext uri="{FF2B5EF4-FFF2-40B4-BE49-F238E27FC236}">
                  <a16:creationId xmlns:a16="http://schemas.microsoft.com/office/drawing/2014/main" id="{8F68F5FE-3058-4A7F-A218-AEAA400E71FD}"/>
                </a:ext>
              </a:extLst>
            </p:cNvPr>
            <p:cNvSpPr txBox="1"/>
            <p:nvPr/>
          </p:nvSpPr>
          <p:spPr>
            <a:xfrm>
              <a:off x="838200" y="2564999"/>
              <a:ext cx="6762750" cy="2388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9" name="Text 3">
            <a:extLst>
              <a:ext uri="{FF2B5EF4-FFF2-40B4-BE49-F238E27FC236}">
                <a16:creationId xmlns:a16="http://schemas.microsoft.com/office/drawing/2014/main" id="{476105FB-E717-4244-B445-77D822F83BAB}"/>
              </a:ext>
            </a:extLst>
          </p:cNvPr>
          <p:cNvSpPr/>
          <p:nvPr/>
        </p:nvSpPr>
        <p:spPr>
          <a:xfrm rot="10800000" flipV="1">
            <a:off x="2157269" y="3035505"/>
            <a:ext cx="1569720" cy="13711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</a:t>
            </a:r>
            <a:endParaRPr lang="en-US" sz="6000" dirty="0">
              <a:solidFill>
                <a:srgbClr val="FFFF66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61D4BC-0C76-455F-B568-1FD8B81B2850}"/>
              </a:ext>
            </a:extLst>
          </p:cNvPr>
          <p:cNvSpPr txBox="1"/>
          <p:nvPr/>
        </p:nvSpPr>
        <p:spPr>
          <a:xfrm>
            <a:off x="3760659" y="3405599"/>
            <a:ext cx="431482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- Server TCP</a:t>
            </a:r>
          </a:p>
        </p:txBody>
      </p:sp>
      <p:sp>
        <p:nvSpPr>
          <p:cNvPr id="63" name="TextBox 31">
            <a:extLst>
              <a:ext uri="{FF2B5EF4-FFF2-40B4-BE49-F238E27FC236}">
                <a16:creationId xmlns:a16="http://schemas.microsoft.com/office/drawing/2014/main" id="{10838696-2DC7-4740-B050-E7625894182F}"/>
              </a:ext>
            </a:extLst>
          </p:cNvPr>
          <p:cNvSpPr txBox="1"/>
          <p:nvPr/>
        </p:nvSpPr>
        <p:spPr>
          <a:xfrm>
            <a:off x="2420115" y="7680872"/>
            <a:ext cx="642322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CLI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gọn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Client GUI Swing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thân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thiện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D4B1E34-87D6-4D63-A7DA-549F0BEB83B3}"/>
              </a:ext>
            </a:extLst>
          </p:cNvPr>
          <p:cNvGrpSpPr/>
          <p:nvPr/>
        </p:nvGrpSpPr>
        <p:grpSpPr>
          <a:xfrm>
            <a:off x="2123599" y="6218403"/>
            <a:ext cx="6762750" cy="2747462"/>
            <a:chOff x="838200" y="2564999"/>
            <a:chExt cx="6762750" cy="2747462"/>
          </a:xfrm>
        </p:grpSpPr>
        <p:sp>
          <p:nvSpPr>
            <p:cNvPr id="65" name="Freeform 3">
              <a:extLst>
                <a:ext uri="{FF2B5EF4-FFF2-40B4-BE49-F238E27FC236}">
                  <a16:creationId xmlns:a16="http://schemas.microsoft.com/office/drawing/2014/main" id="{7E84C985-3D74-43E4-8640-75FFE37A55CB}"/>
                </a:ext>
              </a:extLst>
            </p:cNvPr>
            <p:cNvSpPr/>
            <p:nvPr/>
          </p:nvSpPr>
          <p:spPr>
            <a:xfrm>
              <a:off x="838200" y="2763710"/>
              <a:ext cx="6762750" cy="2548751"/>
            </a:xfrm>
            <a:custGeom>
              <a:avLst/>
              <a:gdLst/>
              <a:ahLst/>
              <a:cxnLst/>
              <a:rect l="l" t="t" r="r" b="b"/>
              <a:pathLst>
                <a:path w="1628869" h="559860">
                  <a:moveTo>
                    <a:pt x="25036" y="0"/>
                  </a:moveTo>
                  <a:lnTo>
                    <a:pt x="1603833" y="0"/>
                  </a:lnTo>
                  <a:cubicBezTo>
                    <a:pt x="1610473" y="0"/>
                    <a:pt x="1616841" y="2638"/>
                    <a:pt x="1621536" y="7333"/>
                  </a:cubicBezTo>
                  <a:cubicBezTo>
                    <a:pt x="1626231" y="12028"/>
                    <a:pt x="1628869" y="18396"/>
                    <a:pt x="1628869" y="25036"/>
                  </a:cubicBezTo>
                  <a:lnTo>
                    <a:pt x="1628869" y="534824"/>
                  </a:lnTo>
                  <a:cubicBezTo>
                    <a:pt x="1628869" y="541464"/>
                    <a:pt x="1626231" y="547832"/>
                    <a:pt x="1621536" y="552528"/>
                  </a:cubicBezTo>
                  <a:cubicBezTo>
                    <a:pt x="1616841" y="557223"/>
                    <a:pt x="1610473" y="559860"/>
                    <a:pt x="1603833" y="559860"/>
                  </a:cubicBezTo>
                  <a:lnTo>
                    <a:pt x="25036" y="559860"/>
                  </a:lnTo>
                  <a:cubicBezTo>
                    <a:pt x="18396" y="559860"/>
                    <a:pt x="12028" y="557223"/>
                    <a:pt x="7333" y="552528"/>
                  </a:cubicBezTo>
                  <a:cubicBezTo>
                    <a:pt x="2638" y="547832"/>
                    <a:pt x="0" y="541464"/>
                    <a:pt x="0" y="534824"/>
                  </a:cubicBezTo>
                  <a:lnTo>
                    <a:pt x="0" y="25036"/>
                  </a:lnTo>
                  <a:cubicBezTo>
                    <a:pt x="0" y="18396"/>
                    <a:pt x="2638" y="12028"/>
                    <a:pt x="7333" y="7333"/>
                  </a:cubicBezTo>
                  <a:cubicBezTo>
                    <a:pt x="12028" y="2638"/>
                    <a:pt x="18396" y="0"/>
                    <a:pt x="25036" y="0"/>
                  </a:cubicBezTo>
                  <a:close/>
                </a:path>
              </a:pathLst>
            </a:custGeom>
            <a:ln w="9525" cap="sq">
              <a:solidFill>
                <a:srgbClr val="EFDDFF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66" name="TextBox 4">
              <a:extLst>
                <a:ext uri="{FF2B5EF4-FFF2-40B4-BE49-F238E27FC236}">
                  <a16:creationId xmlns:a16="http://schemas.microsoft.com/office/drawing/2014/main" id="{4DF98CF8-97E0-492E-9EAF-167853A913F0}"/>
                </a:ext>
              </a:extLst>
            </p:cNvPr>
            <p:cNvSpPr txBox="1"/>
            <p:nvPr/>
          </p:nvSpPr>
          <p:spPr>
            <a:xfrm>
              <a:off x="838200" y="2564999"/>
              <a:ext cx="6762750" cy="2388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7" name="Text 3">
            <a:extLst>
              <a:ext uri="{FF2B5EF4-FFF2-40B4-BE49-F238E27FC236}">
                <a16:creationId xmlns:a16="http://schemas.microsoft.com/office/drawing/2014/main" id="{90C874E2-72CB-4104-8557-2D3AB06FEB77}"/>
              </a:ext>
            </a:extLst>
          </p:cNvPr>
          <p:cNvSpPr/>
          <p:nvPr/>
        </p:nvSpPr>
        <p:spPr>
          <a:xfrm rot="10800000" flipV="1">
            <a:off x="2157269" y="6440369"/>
            <a:ext cx="1569720" cy="13711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</a:t>
            </a:r>
            <a:endParaRPr lang="en-US" sz="6000" dirty="0">
              <a:solidFill>
                <a:srgbClr val="FFFF66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A0DE56-63E1-474C-8392-FB174EFDC11A}"/>
              </a:ext>
            </a:extLst>
          </p:cNvPr>
          <p:cNvSpPr txBox="1"/>
          <p:nvPr/>
        </p:nvSpPr>
        <p:spPr>
          <a:xfrm>
            <a:off x="3760659" y="6810463"/>
            <a:ext cx="4314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 &amp; GUI</a:t>
            </a:r>
          </a:p>
        </p:txBody>
      </p:sp>
      <p:sp>
        <p:nvSpPr>
          <p:cNvPr id="69" name="TextBox 31">
            <a:extLst>
              <a:ext uri="{FF2B5EF4-FFF2-40B4-BE49-F238E27FC236}">
                <a16:creationId xmlns:a16="http://schemas.microsoft.com/office/drawing/2014/main" id="{F2A84B4B-7D26-4D49-9587-2E2FAA5AA33D}"/>
              </a:ext>
            </a:extLst>
          </p:cNvPr>
          <p:cNvSpPr txBox="1"/>
          <p:nvPr/>
        </p:nvSpPr>
        <p:spPr>
          <a:xfrm>
            <a:off x="9868724" y="4233074"/>
            <a:ext cx="642322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(Windows/Linux).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C278AEF-7E4D-476E-8FEE-5FD5B2D31E90}"/>
              </a:ext>
            </a:extLst>
          </p:cNvPr>
          <p:cNvGrpSpPr/>
          <p:nvPr/>
        </p:nvGrpSpPr>
        <p:grpSpPr>
          <a:xfrm>
            <a:off x="9620541" y="2795972"/>
            <a:ext cx="6762750" cy="2747462"/>
            <a:chOff x="838200" y="2564999"/>
            <a:chExt cx="6762750" cy="2747462"/>
          </a:xfrm>
        </p:grpSpPr>
        <p:sp>
          <p:nvSpPr>
            <p:cNvPr id="71" name="Freeform 3">
              <a:extLst>
                <a:ext uri="{FF2B5EF4-FFF2-40B4-BE49-F238E27FC236}">
                  <a16:creationId xmlns:a16="http://schemas.microsoft.com/office/drawing/2014/main" id="{85A11821-0968-4C07-BC19-D8F868AF611B}"/>
                </a:ext>
              </a:extLst>
            </p:cNvPr>
            <p:cNvSpPr/>
            <p:nvPr/>
          </p:nvSpPr>
          <p:spPr>
            <a:xfrm>
              <a:off x="838200" y="2763710"/>
              <a:ext cx="6762750" cy="2548751"/>
            </a:xfrm>
            <a:custGeom>
              <a:avLst/>
              <a:gdLst/>
              <a:ahLst/>
              <a:cxnLst/>
              <a:rect l="l" t="t" r="r" b="b"/>
              <a:pathLst>
                <a:path w="1628869" h="559860">
                  <a:moveTo>
                    <a:pt x="25036" y="0"/>
                  </a:moveTo>
                  <a:lnTo>
                    <a:pt x="1603833" y="0"/>
                  </a:lnTo>
                  <a:cubicBezTo>
                    <a:pt x="1610473" y="0"/>
                    <a:pt x="1616841" y="2638"/>
                    <a:pt x="1621536" y="7333"/>
                  </a:cubicBezTo>
                  <a:cubicBezTo>
                    <a:pt x="1626231" y="12028"/>
                    <a:pt x="1628869" y="18396"/>
                    <a:pt x="1628869" y="25036"/>
                  </a:cubicBezTo>
                  <a:lnTo>
                    <a:pt x="1628869" y="534824"/>
                  </a:lnTo>
                  <a:cubicBezTo>
                    <a:pt x="1628869" y="541464"/>
                    <a:pt x="1626231" y="547832"/>
                    <a:pt x="1621536" y="552528"/>
                  </a:cubicBezTo>
                  <a:cubicBezTo>
                    <a:pt x="1616841" y="557223"/>
                    <a:pt x="1610473" y="559860"/>
                    <a:pt x="1603833" y="559860"/>
                  </a:cubicBezTo>
                  <a:lnTo>
                    <a:pt x="25036" y="559860"/>
                  </a:lnTo>
                  <a:cubicBezTo>
                    <a:pt x="18396" y="559860"/>
                    <a:pt x="12028" y="557223"/>
                    <a:pt x="7333" y="552528"/>
                  </a:cubicBezTo>
                  <a:cubicBezTo>
                    <a:pt x="2638" y="547832"/>
                    <a:pt x="0" y="541464"/>
                    <a:pt x="0" y="534824"/>
                  </a:cubicBezTo>
                  <a:lnTo>
                    <a:pt x="0" y="25036"/>
                  </a:lnTo>
                  <a:cubicBezTo>
                    <a:pt x="0" y="18396"/>
                    <a:pt x="2638" y="12028"/>
                    <a:pt x="7333" y="7333"/>
                  </a:cubicBezTo>
                  <a:cubicBezTo>
                    <a:pt x="12028" y="2638"/>
                    <a:pt x="18396" y="0"/>
                    <a:pt x="25036" y="0"/>
                  </a:cubicBezTo>
                  <a:close/>
                </a:path>
              </a:pathLst>
            </a:custGeom>
            <a:ln w="9525" cap="sq">
              <a:solidFill>
                <a:srgbClr val="EFDDFF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72" name="TextBox 4">
              <a:extLst>
                <a:ext uri="{FF2B5EF4-FFF2-40B4-BE49-F238E27FC236}">
                  <a16:creationId xmlns:a16="http://schemas.microsoft.com/office/drawing/2014/main" id="{F662E048-6448-45EC-A5D6-9714FFB0E453}"/>
                </a:ext>
              </a:extLst>
            </p:cNvPr>
            <p:cNvSpPr txBox="1"/>
            <p:nvPr/>
          </p:nvSpPr>
          <p:spPr>
            <a:xfrm>
              <a:off x="838200" y="2564999"/>
              <a:ext cx="6762750" cy="2388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3" name="Text 3">
            <a:extLst>
              <a:ext uri="{FF2B5EF4-FFF2-40B4-BE49-F238E27FC236}">
                <a16:creationId xmlns:a16="http://schemas.microsoft.com/office/drawing/2014/main" id="{55318F4B-A596-4BE3-A38A-888F7D5A2DFF}"/>
              </a:ext>
            </a:extLst>
          </p:cNvPr>
          <p:cNvSpPr/>
          <p:nvPr/>
        </p:nvSpPr>
        <p:spPr>
          <a:xfrm rot="10800000" flipV="1">
            <a:off x="9654211" y="3017938"/>
            <a:ext cx="1569720" cy="13711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</a:t>
            </a:r>
            <a:endParaRPr lang="en-US" sz="6000" dirty="0">
              <a:solidFill>
                <a:srgbClr val="FFFF66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93F439-0159-44C0-8690-663F199B9912}"/>
              </a:ext>
            </a:extLst>
          </p:cNvPr>
          <p:cNvSpPr txBox="1"/>
          <p:nvPr/>
        </p:nvSpPr>
        <p:spPr>
          <a:xfrm>
            <a:off x="11257601" y="3388032"/>
            <a:ext cx="4314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OS</a:t>
            </a:r>
          </a:p>
        </p:txBody>
      </p:sp>
      <p:sp>
        <p:nvSpPr>
          <p:cNvPr id="75" name="TextBox 31">
            <a:extLst>
              <a:ext uri="{FF2B5EF4-FFF2-40B4-BE49-F238E27FC236}">
                <a16:creationId xmlns:a16="http://schemas.microsoft.com/office/drawing/2014/main" id="{4120BFA6-9782-42A5-A9EC-DD72B0A179E7}"/>
              </a:ext>
            </a:extLst>
          </p:cNvPr>
          <p:cNvSpPr txBox="1"/>
          <p:nvPr/>
        </p:nvSpPr>
        <p:spPr>
          <a:xfrm>
            <a:off x="9917057" y="7663305"/>
            <a:ext cx="642322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blocking.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395FAE2-3339-4D45-BC83-49768491A946}"/>
              </a:ext>
            </a:extLst>
          </p:cNvPr>
          <p:cNvGrpSpPr/>
          <p:nvPr/>
        </p:nvGrpSpPr>
        <p:grpSpPr>
          <a:xfrm>
            <a:off x="9620541" y="6200836"/>
            <a:ext cx="6762750" cy="2747462"/>
            <a:chOff x="838200" y="2564999"/>
            <a:chExt cx="6762750" cy="2747462"/>
          </a:xfrm>
        </p:grpSpPr>
        <p:sp>
          <p:nvSpPr>
            <p:cNvPr id="77" name="Freeform 3">
              <a:extLst>
                <a:ext uri="{FF2B5EF4-FFF2-40B4-BE49-F238E27FC236}">
                  <a16:creationId xmlns:a16="http://schemas.microsoft.com/office/drawing/2014/main" id="{F254F0E2-D383-4AFA-A361-0D69C04D4D97}"/>
                </a:ext>
              </a:extLst>
            </p:cNvPr>
            <p:cNvSpPr/>
            <p:nvPr/>
          </p:nvSpPr>
          <p:spPr>
            <a:xfrm>
              <a:off x="838200" y="2763710"/>
              <a:ext cx="6762750" cy="2548751"/>
            </a:xfrm>
            <a:custGeom>
              <a:avLst/>
              <a:gdLst/>
              <a:ahLst/>
              <a:cxnLst/>
              <a:rect l="l" t="t" r="r" b="b"/>
              <a:pathLst>
                <a:path w="1628869" h="559860">
                  <a:moveTo>
                    <a:pt x="25036" y="0"/>
                  </a:moveTo>
                  <a:lnTo>
                    <a:pt x="1603833" y="0"/>
                  </a:lnTo>
                  <a:cubicBezTo>
                    <a:pt x="1610473" y="0"/>
                    <a:pt x="1616841" y="2638"/>
                    <a:pt x="1621536" y="7333"/>
                  </a:cubicBezTo>
                  <a:cubicBezTo>
                    <a:pt x="1626231" y="12028"/>
                    <a:pt x="1628869" y="18396"/>
                    <a:pt x="1628869" y="25036"/>
                  </a:cubicBezTo>
                  <a:lnTo>
                    <a:pt x="1628869" y="534824"/>
                  </a:lnTo>
                  <a:cubicBezTo>
                    <a:pt x="1628869" y="541464"/>
                    <a:pt x="1626231" y="547832"/>
                    <a:pt x="1621536" y="552528"/>
                  </a:cubicBezTo>
                  <a:cubicBezTo>
                    <a:pt x="1616841" y="557223"/>
                    <a:pt x="1610473" y="559860"/>
                    <a:pt x="1603833" y="559860"/>
                  </a:cubicBezTo>
                  <a:lnTo>
                    <a:pt x="25036" y="559860"/>
                  </a:lnTo>
                  <a:cubicBezTo>
                    <a:pt x="18396" y="559860"/>
                    <a:pt x="12028" y="557223"/>
                    <a:pt x="7333" y="552528"/>
                  </a:cubicBezTo>
                  <a:cubicBezTo>
                    <a:pt x="2638" y="547832"/>
                    <a:pt x="0" y="541464"/>
                    <a:pt x="0" y="534824"/>
                  </a:cubicBezTo>
                  <a:lnTo>
                    <a:pt x="0" y="25036"/>
                  </a:lnTo>
                  <a:cubicBezTo>
                    <a:pt x="0" y="18396"/>
                    <a:pt x="2638" y="12028"/>
                    <a:pt x="7333" y="7333"/>
                  </a:cubicBezTo>
                  <a:cubicBezTo>
                    <a:pt x="12028" y="2638"/>
                    <a:pt x="18396" y="0"/>
                    <a:pt x="25036" y="0"/>
                  </a:cubicBezTo>
                  <a:close/>
                </a:path>
              </a:pathLst>
            </a:custGeom>
            <a:ln w="9525" cap="sq">
              <a:solidFill>
                <a:srgbClr val="EFDDFF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78" name="TextBox 4">
              <a:extLst>
                <a:ext uri="{FF2B5EF4-FFF2-40B4-BE49-F238E27FC236}">
                  <a16:creationId xmlns:a16="http://schemas.microsoft.com/office/drawing/2014/main" id="{F64BD6EC-B57D-4A8F-A2D6-20FE666C4C77}"/>
                </a:ext>
              </a:extLst>
            </p:cNvPr>
            <p:cNvSpPr txBox="1"/>
            <p:nvPr/>
          </p:nvSpPr>
          <p:spPr>
            <a:xfrm>
              <a:off x="838200" y="2564999"/>
              <a:ext cx="6762750" cy="2388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9" name="Text 3">
            <a:extLst>
              <a:ext uri="{FF2B5EF4-FFF2-40B4-BE49-F238E27FC236}">
                <a16:creationId xmlns:a16="http://schemas.microsoft.com/office/drawing/2014/main" id="{12500AEC-B4E0-405D-9812-9B4291CBAE75}"/>
              </a:ext>
            </a:extLst>
          </p:cNvPr>
          <p:cNvSpPr/>
          <p:nvPr/>
        </p:nvSpPr>
        <p:spPr>
          <a:xfrm rot="10800000" flipV="1">
            <a:off x="9654211" y="6422802"/>
            <a:ext cx="1569720" cy="13711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</a:t>
            </a:r>
            <a:endParaRPr lang="en-US" sz="6000" dirty="0">
              <a:solidFill>
                <a:srgbClr val="FFFF66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051D2EB-FF1C-44F7-AB32-6660F1B1C24F}"/>
              </a:ext>
            </a:extLst>
          </p:cNvPr>
          <p:cNvSpPr txBox="1"/>
          <p:nvPr/>
        </p:nvSpPr>
        <p:spPr>
          <a:xfrm>
            <a:off x="11257600" y="6792896"/>
            <a:ext cx="534553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luồng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(Multi-thread)</a:t>
            </a:r>
          </a:p>
        </p:txBody>
      </p:sp>
      <p:sp>
        <p:nvSpPr>
          <p:cNvPr id="82" name="Freeform 7">
            <a:extLst>
              <a:ext uri="{FF2B5EF4-FFF2-40B4-BE49-F238E27FC236}">
                <a16:creationId xmlns:a16="http://schemas.microsoft.com/office/drawing/2014/main" id="{00D70554-64DB-4983-B084-8CE52170CCB7}"/>
              </a:ext>
            </a:extLst>
          </p:cNvPr>
          <p:cNvSpPr/>
          <p:nvPr/>
        </p:nvSpPr>
        <p:spPr>
          <a:xfrm flipV="1">
            <a:off x="11492" y="-8067"/>
            <a:ext cx="3493010" cy="3493010"/>
          </a:xfrm>
          <a:custGeom>
            <a:avLst/>
            <a:gdLst/>
            <a:ahLst/>
            <a:cxnLst/>
            <a:rect l="l" t="t" r="r" b="b"/>
            <a:pathLst>
              <a:path w="3493010" h="3493010">
                <a:moveTo>
                  <a:pt x="3493010" y="3493009"/>
                </a:moveTo>
                <a:lnTo>
                  <a:pt x="0" y="3493009"/>
                </a:lnTo>
                <a:lnTo>
                  <a:pt x="0" y="0"/>
                </a:lnTo>
                <a:lnTo>
                  <a:pt x="3493010" y="0"/>
                </a:lnTo>
                <a:lnTo>
                  <a:pt x="3493010" y="34930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 flipV="1">
            <a:off x="1028700" y="770282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 flipH="1" flipV="1">
            <a:off x="14849549" y="9747"/>
            <a:ext cx="3493010" cy="3493010"/>
          </a:xfrm>
          <a:custGeom>
            <a:avLst/>
            <a:gdLst/>
            <a:ahLst/>
            <a:cxnLst/>
            <a:rect l="l" t="t" r="r" b="b"/>
            <a:pathLst>
              <a:path w="3493010" h="3493010">
                <a:moveTo>
                  <a:pt x="3493010" y="3493009"/>
                </a:moveTo>
                <a:lnTo>
                  <a:pt x="0" y="3493009"/>
                </a:lnTo>
                <a:lnTo>
                  <a:pt x="0" y="0"/>
                </a:lnTo>
                <a:lnTo>
                  <a:pt x="3493010" y="0"/>
                </a:lnTo>
                <a:lnTo>
                  <a:pt x="3493010" y="34930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001274" y="664264"/>
            <a:ext cx="212036" cy="21203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74690" y="664264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664264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49351" y="664264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76849" y="1169443"/>
            <a:ext cx="7290495" cy="256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74"/>
              </a:lnSpc>
            </a:pP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Công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nghệ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</a:p>
          <a:p>
            <a:pPr>
              <a:lnSpc>
                <a:spcPts val="9774"/>
              </a:lnSpc>
            </a:pP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sử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dụng</a:t>
            </a:r>
            <a:endParaRPr lang="en-US" sz="88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3E7570C-455A-4BED-87AD-B8E2BEED129C}"/>
              </a:ext>
            </a:extLst>
          </p:cNvPr>
          <p:cNvSpPr/>
          <p:nvPr/>
        </p:nvSpPr>
        <p:spPr>
          <a:xfrm>
            <a:off x="9525000" y="7354968"/>
            <a:ext cx="6705600" cy="7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 Code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09D461-E26E-4CB1-AC5F-74FC0B1D86B5}"/>
              </a:ext>
            </a:extLst>
          </p:cNvPr>
          <p:cNvSpPr/>
          <p:nvPr/>
        </p:nvSpPr>
        <p:spPr>
          <a:xfrm>
            <a:off x="9537676" y="7337613"/>
            <a:ext cx="6692924" cy="2256435"/>
          </a:xfrm>
          <a:prstGeom prst="rect">
            <a:avLst/>
          </a:prstGeom>
          <a:noFill/>
          <a:ln w="3810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31">
            <a:extLst>
              <a:ext uri="{FF2B5EF4-FFF2-40B4-BE49-F238E27FC236}">
                <a16:creationId xmlns:a16="http://schemas.microsoft.com/office/drawing/2014/main" id="{10189A4E-992D-4A13-B1E9-926D539A63BD}"/>
              </a:ext>
            </a:extLst>
          </p:cNvPr>
          <p:cNvSpPr txBox="1"/>
          <p:nvPr/>
        </p:nvSpPr>
        <p:spPr>
          <a:xfrm>
            <a:off x="9666185" y="8540913"/>
            <a:ext cx="6423229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JDK 11+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741103B-BAAD-4CEE-80AD-EB898D6AD989}"/>
              </a:ext>
            </a:extLst>
          </p:cNvPr>
          <p:cNvSpPr/>
          <p:nvPr/>
        </p:nvSpPr>
        <p:spPr>
          <a:xfrm>
            <a:off x="2266507" y="7322569"/>
            <a:ext cx="6705600" cy="762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 Socket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9DF913-7280-46C5-8BB3-91D91C262C56}"/>
              </a:ext>
            </a:extLst>
          </p:cNvPr>
          <p:cNvSpPr/>
          <p:nvPr/>
        </p:nvSpPr>
        <p:spPr>
          <a:xfrm>
            <a:off x="2279183" y="7305214"/>
            <a:ext cx="6692924" cy="2285623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31">
            <a:extLst>
              <a:ext uri="{FF2B5EF4-FFF2-40B4-BE49-F238E27FC236}">
                <a16:creationId xmlns:a16="http://schemas.microsoft.com/office/drawing/2014/main" id="{89644801-CE0F-4FAF-BAEF-D4957CB81578}"/>
              </a:ext>
            </a:extLst>
          </p:cNvPr>
          <p:cNvSpPr txBox="1"/>
          <p:nvPr/>
        </p:nvSpPr>
        <p:spPr>
          <a:xfrm>
            <a:off x="2561554" y="8361216"/>
            <a:ext cx="642322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Socket,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ServerSocket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6AB9A4-2354-4114-A078-BE6B925A1A1E}"/>
              </a:ext>
            </a:extLst>
          </p:cNvPr>
          <p:cNvSpPr/>
          <p:nvPr/>
        </p:nvSpPr>
        <p:spPr>
          <a:xfrm>
            <a:off x="2270323" y="4372111"/>
            <a:ext cx="6705600" cy="762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Multithreading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589D056-C753-4CE6-9874-A20A6398CCDC}"/>
              </a:ext>
            </a:extLst>
          </p:cNvPr>
          <p:cNvSpPr/>
          <p:nvPr/>
        </p:nvSpPr>
        <p:spPr>
          <a:xfrm>
            <a:off x="2282999" y="4354757"/>
            <a:ext cx="6692924" cy="2264347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31">
            <a:extLst>
              <a:ext uri="{FF2B5EF4-FFF2-40B4-BE49-F238E27FC236}">
                <a16:creationId xmlns:a16="http://schemas.microsoft.com/office/drawing/2014/main" id="{27705B78-412F-42ED-85C6-DE13B4B595DA}"/>
              </a:ext>
            </a:extLst>
          </p:cNvPr>
          <p:cNvSpPr txBox="1"/>
          <p:nvPr/>
        </p:nvSpPr>
        <p:spPr>
          <a:xfrm>
            <a:off x="2411508" y="5712023"/>
            <a:ext cx="6423229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per-client,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song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song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9C0322-1730-4105-8935-FCBE7CD96FD8}"/>
              </a:ext>
            </a:extLst>
          </p:cNvPr>
          <p:cNvSpPr/>
          <p:nvPr/>
        </p:nvSpPr>
        <p:spPr>
          <a:xfrm>
            <a:off x="9496647" y="4372111"/>
            <a:ext cx="6705600" cy="76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 Swing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0F28120-5434-4BEF-A875-7517CEDD72B7}"/>
              </a:ext>
            </a:extLst>
          </p:cNvPr>
          <p:cNvSpPr/>
          <p:nvPr/>
        </p:nvSpPr>
        <p:spPr>
          <a:xfrm>
            <a:off x="9509323" y="4354757"/>
            <a:ext cx="6692924" cy="2256435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31">
            <a:extLst>
              <a:ext uri="{FF2B5EF4-FFF2-40B4-BE49-F238E27FC236}">
                <a16:creationId xmlns:a16="http://schemas.microsoft.com/office/drawing/2014/main" id="{D4E778C8-9F94-418A-B9D6-33E68A81FE85}"/>
              </a:ext>
            </a:extLst>
          </p:cNvPr>
          <p:cNvSpPr txBox="1"/>
          <p:nvPr/>
        </p:nvSpPr>
        <p:spPr>
          <a:xfrm>
            <a:off x="9759525" y="5500905"/>
            <a:ext cx="642322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 client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thân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thiện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4DBF453-082B-42F0-91CE-065A29236D1A}"/>
              </a:ext>
            </a:extLst>
          </p:cNvPr>
          <p:cNvSpPr/>
          <p:nvPr/>
        </p:nvSpPr>
        <p:spPr>
          <a:xfrm>
            <a:off x="9516140" y="1515410"/>
            <a:ext cx="6705600" cy="762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ProcessBuilder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D13064B-9AD5-49CA-8D16-AFC0B8AF4F9B}"/>
              </a:ext>
            </a:extLst>
          </p:cNvPr>
          <p:cNvSpPr/>
          <p:nvPr/>
        </p:nvSpPr>
        <p:spPr>
          <a:xfrm>
            <a:off x="9528816" y="1498056"/>
            <a:ext cx="6692924" cy="2256434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31">
            <a:extLst>
              <a:ext uri="{FF2B5EF4-FFF2-40B4-BE49-F238E27FC236}">
                <a16:creationId xmlns:a16="http://schemas.microsoft.com/office/drawing/2014/main" id="{D0ED0C8F-A1FD-41DD-8AE5-61CA3F5C8229}"/>
              </a:ext>
            </a:extLst>
          </p:cNvPr>
          <p:cNvSpPr txBox="1"/>
          <p:nvPr/>
        </p:nvSpPr>
        <p:spPr>
          <a:xfrm>
            <a:off x="9865071" y="2559360"/>
            <a:ext cx="642322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Win/Linux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93431" y="2019059"/>
            <a:ext cx="7609685" cy="2951895"/>
            <a:chOff x="0" y="0"/>
            <a:chExt cx="1214400" cy="19614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8678" cy="1695232"/>
            </a:xfrm>
            <a:custGeom>
              <a:avLst/>
              <a:gdLst/>
              <a:ahLst/>
              <a:cxnLst/>
              <a:rect l="l" t="t" r="r" b="b"/>
              <a:pathLst>
                <a:path w="1128678" h="1695232">
                  <a:moveTo>
                    <a:pt x="36131" y="0"/>
                  </a:moveTo>
                  <a:lnTo>
                    <a:pt x="1092547" y="0"/>
                  </a:lnTo>
                  <a:cubicBezTo>
                    <a:pt x="1112502" y="0"/>
                    <a:pt x="1128678" y="16176"/>
                    <a:pt x="1128678" y="36131"/>
                  </a:cubicBezTo>
                  <a:lnTo>
                    <a:pt x="1128678" y="1659101"/>
                  </a:lnTo>
                  <a:cubicBezTo>
                    <a:pt x="1128678" y="1668683"/>
                    <a:pt x="1124872" y="1677873"/>
                    <a:pt x="1118096" y="1684649"/>
                  </a:cubicBezTo>
                  <a:cubicBezTo>
                    <a:pt x="1111320" y="1691425"/>
                    <a:pt x="1102130" y="1695232"/>
                    <a:pt x="1092547" y="1695232"/>
                  </a:cubicBezTo>
                  <a:lnTo>
                    <a:pt x="36131" y="1695232"/>
                  </a:lnTo>
                  <a:cubicBezTo>
                    <a:pt x="26549" y="1695232"/>
                    <a:pt x="17358" y="1691425"/>
                    <a:pt x="10583" y="1684649"/>
                  </a:cubicBezTo>
                  <a:cubicBezTo>
                    <a:pt x="3807" y="1677873"/>
                    <a:pt x="0" y="1668683"/>
                    <a:pt x="0" y="1659101"/>
                  </a:cubicBezTo>
                  <a:lnTo>
                    <a:pt x="0" y="36131"/>
                  </a:lnTo>
                  <a:cubicBezTo>
                    <a:pt x="0" y="26549"/>
                    <a:pt x="3807" y="17358"/>
                    <a:pt x="10583" y="10583"/>
                  </a:cubicBezTo>
                  <a:cubicBezTo>
                    <a:pt x="17358" y="3807"/>
                    <a:pt x="26549" y="0"/>
                    <a:pt x="36131" y="0"/>
                  </a:cubicBezTo>
                  <a:close/>
                </a:path>
              </a:pathLst>
            </a:custGeom>
            <a:ln w="9525" cap="sq">
              <a:solidFill>
                <a:srgbClr val="EFDDFF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5722" y="228077"/>
              <a:ext cx="1128678" cy="1733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 flipH="1">
            <a:off x="3655998" y="7312637"/>
            <a:ext cx="1945663" cy="1945663"/>
          </a:xfrm>
          <a:custGeom>
            <a:avLst/>
            <a:gdLst/>
            <a:ahLst/>
            <a:cxnLst/>
            <a:rect l="l" t="t" r="r" b="b"/>
            <a:pathLst>
              <a:path w="1945663" h="1945663">
                <a:moveTo>
                  <a:pt x="1945662" y="0"/>
                </a:moveTo>
                <a:lnTo>
                  <a:pt x="0" y="0"/>
                </a:lnTo>
                <a:lnTo>
                  <a:pt x="0" y="1945663"/>
                </a:lnTo>
                <a:lnTo>
                  <a:pt x="1945662" y="1945663"/>
                </a:lnTo>
                <a:lnTo>
                  <a:pt x="1945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001274" y="922682"/>
            <a:ext cx="212036" cy="21203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74690" y="922682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922682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49351" y="922682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flipH="1">
            <a:off x="1028700" y="2821716"/>
            <a:ext cx="2627298" cy="434698"/>
          </a:xfrm>
          <a:custGeom>
            <a:avLst/>
            <a:gdLst/>
            <a:ahLst/>
            <a:cxnLst/>
            <a:rect l="l" t="t" r="r" b="b"/>
            <a:pathLst>
              <a:path w="2627298" h="434698">
                <a:moveTo>
                  <a:pt x="2627298" y="0"/>
                </a:moveTo>
                <a:lnTo>
                  <a:pt x="0" y="0"/>
                </a:lnTo>
                <a:lnTo>
                  <a:pt x="0" y="434699"/>
                </a:lnTo>
                <a:lnTo>
                  <a:pt x="2627298" y="434699"/>
                </a:lnTo>
                <a:lnTo>
                  <a:pt x="26272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139" y="4570361"/>
            <a:ext cx="5973135" cy="2478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Kiến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trúc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hệ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thống</a:t>
            </a:r>
            <a:endParaRPr lang="en-US" sz="88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35" name="TextBox 31">
            <a:extLst>
              <a:ext uri="{FF2B5EF4-FFF2-40B4-BE49-F238E27FC236}">
                <a16:creationId xmlns:a16="http://schemas.microsoft.com/office/drawing/2014/main" id="{38D89B90-76E7-4F30-B8E2-C9E77D139280}"/>
              </a:ext>
            </a:extLst>
          </p:cNvPr>
          <p:cNvSpPr txBox="1"/>
          <p:nvPr/>
        </p:nvSpPr>
        <p:spPr>
          <a:xfrm>
            <a:off x="7696200" y="2448500"/>
            <a:ext cx="60198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(CLI / GUI) </a:t>
            </a:r>
          </a:p>
          <a:p>
            <a:pPr marL="45720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(</a:t>
            </a: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luồng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457200" indent="-4572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Command Execution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Poppins Italics"/>
            </a:endParaRPr>
          </a:p>
        </p:txBody>
      </p:sp>
      <p:pic>
        <p:nvPicPr>
          <p:cNvPr id="2050" name="Picture 2" descr="CLI vs GUI - Tpoint Tech">
            <a:extLst>
              <a:ext uri="{FF2B5EF4-FFF2-40B4-BE49-F238E27FC236}">
                <a16:creationId xmlns:a16="http://schemas.microsoft.com/office/drawing/2014/main" id="{AFF75C12-0CDA-4D3D-9FBD-C94BEAAC0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5120461"/>
            <a:ext cx="8951049" cy="429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AutoShape 4">
            <a:extLst>
              <a:ext uri="{FF2B5EF4-FFF2-40B4-BE49-F238E27FC236}">
                <a16:creationId xmlns:a16="http://schemas.microsoft.com/office/drawing/2014/main" id="{E1F70E12-D595-4B15-AAFA-09ECCAAE87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 flipV="1">
            <a:off x="1028700" y="372718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001274" y="266700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266700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266700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266700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344252" y="588883"/>
            <a:ext cx="1591504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</a:rPr>
              <a:t>Luồng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</a:rPr>
              <a:t>hoạt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</a:rPr>
              <a:t>động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</a:rPr>
              <a:t>hệ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</a:rPr>
              <a:t>thống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77" name="Shape 2">
            <a:extLst>
              <a:ext uri="{FF2B5EF4-FFF2-40B4-BE49-F238E27FC236}">
                <a16:creationId xmlns:a16="http://schemas.microsoft.com/office/drawing/2014/main" id="{C9D6D864-8C71-4036-BE36-548A617211DE}"/>
              </a:ext>
            </a:extLst>
          </p:cNvPr>
          <p:cNvSpPr/>
          <p:nvPr/>
        </p:nvSpPr>
        <p:spPr>
          <a:xfrm>
            <a:off x="1800180" y="1905161"/>
            <a:ext cx="1075944" cy="1091611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8" name="Text 3">
            <a:extLst>
              <a:ext uri="{FF2B5EF4-FFF2-40B4-BE49-F238E27FC236}">
                <a16:creationId xmlns:a16="http://schemas.microsoft.com/office/drawing/2014/main" id="{E239A5DB-F0C2-44D0-AC41-2CC2118A186F}"/>
              </a:ext>
            </a:extLst>
          </p:cNvPr>
          <p:cNvSpPr/>
          <p:nvPr/>
        </p:nvSpPr>
        <p:spPr>
          <a:xfrm>
            <a:off x="1800180" y="1920796"/>
            <a:ext cx="1075944" cy="1091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6000" dirty="0"/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232CF95C-BBE7-4EAD-AF4E-F26592F05209}"/>
              </a:ext>
            </a:extLst>
          </p:cNvPr>
          <p:cNvSpPr/>
          <p:nvPr/>
        </p:nvSpPr>
        <p:spPr>
          <a:xfrm>
            <a:off x="3108429" y="2410387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kết nối</a:t>
            </a:r>
          </a:p>
        </p:txBody>
      </p:sp>
      <p:sp>
        <p:nvSpPr>
          <p:cNvPr id="81" name="Shape 6">
            <a:extLst>
              <a:ext uri="{FF2B5EF4-FFF2-40B4-BE49-F238E27FC236}">
                <a16:creationId xmlns:a16="http://schemas.microsoft.com/office/drawing/2014/main" id="{B8AEF2CD-193E-4A9F-8F54-5383C30A7D21}"/>
              </a:ext>
            </a:extLst>
          </p:cNvPr>
          <p:cNvSpPr/>
          <p:nvPr/>
        </p:nvSpPr>
        <p:spPr>
          <a:xfrm>
            <a:off x="9811947" y="2226680"/>
            <a:ext cx="7553632" cy="612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D5289D20-62EA-417F-87F0-CC22365492A4}"/>
              </a:ext>
            </a:extLst>
          </p:cNvPr>
          <p:cNvSpPr/>
          <p:nvPr/>
        </p:nvSpPr>
        <p:spPr>
          <a:xfrm>
            <a:off x="9909483" y="2280764"/>
            <a:ext cx="6887174" cy="537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Socket(serverIp, PORT)</a:t>
            </a:r>
            <a:endParaRPr lang="en-US" sz="2800" dirty="0"/>
          </a:p>
        </p:txBody>
      </p:sp>
      <p:sp>
        <p:nvSpPr>
          <p:cNvPr id="112" name="Shape 2">
            <a:extLst>
              <a:ext uri="{FF2B5EF4-FFF2-40B4-BE49-F238E27FC236}">
                <a16:creationId xmlns:a16="http://schemas.microsoft.com/office/drawing/2014/main" id="{0BAAEDC5-2821-4CCF-9E02-64B38502B31E}"/>
              </a:ext>
            </a:extLst>
          </p:cNvPr>
          <p:cNvSpPr/>
          <p:nvPr/>
        </p:nvSpPr>
        <p:spPr>
          <a:xfrm>
            <a:off x="1800180" y="3288324"/>
            <a:ext cx="1075944" cy="1091611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3" name="Text 3">
            <a:extLst>
              <a:ext uri="{FF2B5EF4-FFF2-40B4-BE49-F238E27FC236}">
                <a16:creationId xmlns:a16="http://schemas.microsoft.com/office/drawing/2014/main" id="{7A2C5CFE-3FA1-47E3-9422-40AB8AF2369F}"/>
              </a:ext>
            </a:extLst>
          </p:cNvPr>
          <p:cNvSpPr/>
          <p:nvPr/>
        </p:nvSpPr>
        <p:spPr>
          <a:xfrm>
            <a:off x="1820233" y="3303569"/>
            <a:ext cx="1075944" cy="1091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2</a:t>
            </a:r>
            <a:endParaRPr lang="en-US" sz="6000" dirty="0"/>
          </a:p>
        </p:txBody>
      </p:sp>
      <p:sp>
        <p:nvSpPr>
          <p:cNvPr id="114" name="Text 5">
            <a:extLst>
              <a:ext uri="{FF2B5EF4-FFF2-40B4-BE49-F238E27FC236}">
                <a16:creationId xmlns:a16="http://schemas.microsoft.com/office/drawing/2014/main" id="{E18B862A-E16A-44C3-868F-C18133D16169}"/>
              </a:ext>
            </a:extLst>
          </p:cNvPr>
          <p:cNvSpPr/>
          <p:nvPr/>
        </p:nvSpPr>
        <p:spPr>
          <a:xfrm>
            <a:off x="3124379" y="3328736"/>
            <a:ext cx="5752728" cy="1091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6">
            <a:extLst>
              <a:ext uri="{FF2B5EF4-FFF2-40B4-BE49-F238E27FC236}">
                <a16:creationId xmlns:a16="http://schemas.microsoft.com/office/drawing/2014/main" id="{3EFB3805-966B-4A97-8BC6-3966943B6AAD}"/>
              </a:ext>
            </a:extLst>
          </p:cNvPr>
          <p:cNvSpPr/>
          <p:nvPr/>
        </p:nvSpPr>
        <p:spPr>
          <a:xfrm>
            <a:off x="9811946" y="3609843"/>
            <a:ext cx="7489464" cy="612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6" name="Text 7">
            <a:extLst>
              <a:ext uri="{FF2B5EF4-FFF2-40B4-BE49-F238E27FC236}">
                <a16:creationId xmlns:a16="http://schemas.microsoft.com/office/drawing/2014/main" id="{DD5D3859-38AD-4461-9813-E91A952E7596}"/>
              </a:ext>
            </a:extLst>
          </p:cNvPr>
          <p:cNvSpPr/>
          <p:nvPr/>
        </p:nvSpPr>
        <p:spPr>
          <a:xfrm>
            <a:off x="9864084" y="3685078"/>
            <a:ext cx="7509516" cy="467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writer.write</a:t>
            </a:r>
            <a:r>
              <a:rPr lang="en-US" sz="2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("AUTH_REQUIRED\n")</a:t>
            </a:r>
            <a:endParaRPr lang="en-US" sz="2800" dirty="0"/>
          </a:p>
        </p:txBody>
      </p:sp>
      <p:sp>
        <p:nvSpPr>
          <p:cNvPr id="117" name="Shape 2">
            <a:extLst>
              <a:ext uri="{FF2B5EF4-FFF2-40B4-BE49-F238E27FC236}">
                <a16:creationId xmlns:a16="http://schemas.microsoft.com/office/drawing/2014/main" id="{F68F20A2-ADC9-4C8E-8D69-E24603DCBF04}"/>
              </a:ext>
            </a:extLst>
          </p:cNvPr>
          <p:cNvSpPr/>
          <p:nvPr/>
        </p:nvSpPr>
        <p:spPr>
          <a:xfrm>
            <a:off x="1820233" y="4655462"/>
            <a:ext cx="1075944" cy="1091611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8" name="Text 3">
            <a:extLst>
              <a:ext uri="{FF2B5EF4-FFF2-40B4-BE49-F238E27FC236}">
                <a16:creationId xmlns:a16="http://schemas.microsoft.com/office/drawing/2014/main" id="{67676837-A9F8-48AF-9F56-0D43DBF305A8}"/>
              </a:ext>
            </a:extLst>
          </p:cNvPr>
          <p:cNvSpPr/>
          <p:nvPr/>
        </p:nvSpPr>
        <p:spPr>
          <a:xfrm>
            <a:off x="1820233" y="4671097"/>
            <a:ext cx="1075944" cy="1091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3</a:t>
            </a:r>
            <a:endParaRPr lang="en-US" sz="6000" dirty="0"/>
          </a:p>
        </p:txBody>
      </p:sp>
      <p:sp>
        <p:nvSpPr>
          <p:cNvPr id="119" name="Text 5">
            <a:extLst>
              <a:ext uri="{FF2B5EF4-FFF2-40B4-BE49-F238E27FC236}">
                <a16:creationId xmlns:a16="http://schemas.microsoft.com/office/drawing/2014/main" id="{18A3629D-BFB0-440E-A856-F6F62CCAF5B7}"/>
              </a:ext>
            </a:extLst>
          </p:cNvPr>
          <p:cNvSpPr/>
          <p:nvPr/>
        </p:nvSpPr>
        <p:spPr>
          <a:xfrm>
            <a:off x="3164484" y="5028924"/>
            <a:ext cx="4889731" cy="537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gửi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password</a:t>
            </a:r>
          </a:p>
        </p:txBody>
      </p:sp>
      <p:sp>
        <p:nvSpPr>
          <p:cNvPr id="120" name="Shape 6">
            <a:extLst>
              <a:ext uri="{FF2B5EF4-FFF2-40B4-BE49-F238E27FC236}">
                <a16:creationId xmlns:a16="http://schemas.microsoft.com/office/drawing/2014/main" id="{BC3F0613-F29B-4B09-8649-1315620BF74C}"/>
              </a:ext>
            </a:extLst>
          </p:cNvPr>
          <p:cNvSpPr/>
          <p:nvPr/>
        </p:nvSpPr>
        <p:spPr>
          <a:xfrm>
            <a:off x="9832000" y="4976981"/>
            <a:ext cx="7469410" cy="612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1" name="Text 7">
            <a:extLst>
              <a:ext uri="{FF2B5EF4-FFF2-40B4-BE49-F238E27FC236}">
                <a16:creationId xmlns:a16="http://schemas.microsoft.com/office/drawing/2014/main" id="{6ADAE1BF-5E59-409E-97B6-1986E08FCAB4}"/>
              </a:ext>
            </a:extLst>
          </p:cNvPr>
          <p:cNvSpPr/>
          <p:nvPr/>
        </p:nvSpPr>
        <p:spPr>
          <a:xfrm>
            <a:off x="9929536" y="5031065"/>
            <a:ext cx="6887174" cy="537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writer.write</a:t>
            </a:r>
            <a:r>
              <a:rPr lang="en-US" sz="2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(password + "\n")</a:t>
            </a:r>
            <a:endParaRPr lang="en-US" sz="2800" dirty="0"/>
          </a:p>
        </p:txBody>
      </p:sp>
      <p:sp>
        <p:nvSpPr>
          <p:cNvPr id="137" name="Shape 2">
            <a:extLst>
              <a:ext uri="{FF2B5EF4-FFF2-40B4-BE49-F238E27FC236}">
                <a16:creationId xmlns:a16="http://schemas.microsoft.com/office/drawing/2014/main" id="{21AF1272-96F3-4AD5-B461-2A88472AA7FE}"/>
              </a:ext>
            </a:extLst>
          </p:cNvPr>
          <p:cNvSpPr/>
          <p:nvPr/>
        </p:nvSpPr>
        <p:spPr>
          <a:xfrm>
            <a:off x="1780127" y="5971170"/>
            <a:ext cx="1075944" cy="1091611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8" name="Text 3">
            <a:extLst>
              <a:ext uri="{FF2B5EF4-FFF2-40B4-BE49-F238E27FC236}">
                <a16:creationId xmlns:a16="http://schemas.microsoft.com/office/drawing/2014/main" id="{50889F68-9C68-4AC6-B92A-AFA7F8E048B1}"/>
              </a:ext>
            </a:extLst>
          </p:cNvPr>
          <p:cNvSpPr/>
          <p:nvPr/>
        </p:nvSpPr>
        <p:spPr>
          <a:xfrm>
            <a:off x="1780127" y="5986805"/>
            <a:ext cx="1075944" cy="1091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4</a:t>
            </a:r>
            <a:endParaRPr lang="en-US" sz="6000" dirty="0"/>
          </a:p>
        </p:txBody>
      </p:sp>
      <p:sp>
        <p:nvSpPr>
          <p:cNvPr id="139" name="Text 5">
            <a:extLst>
              <a:ext uri="{FF2B5EF4-FFF2-40B4-BE49-F238E27FC236}">
                <a16:creationId xmlns:a16="http://schemas.microsoft.com/office/drawing/2014/main" id="{C979C364-FB17-4C0E-8EF9-05138A382F7B}"/>
              </a:ext>
            </a:extLst>
          </p:cNvPr>
          <p:cNvSpPr/>
          <p:nvPr/>
        </p:nvSpPr>
        <p:spPr>
          <a:xfrm>
            <a:off x="3086604" y="6228614"/>
            <a:ext cx="6036192" cy="74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AUTH_OK</a:t>
            </a:r>
          </a:p>
        </p:txBody>
      </p:sp>
      <p:sp>
        <p:nvSpPr>
          <p:cNvPr id="140" name="Shape 6">
            <a:extLst>
              <a:ext uri="{FF2B5EF4-FFF2-40B4-BE49-F238E27FC236}">
                <a16:creationId xmlns:a16="http://schemas.microsoft.com/office/drawing/2014/main" id="{2744F3A5-ABBB-4706-A5C4-7E5D9170D85F}"/>
              </a:ext>
            </a:extLst>
          </p:cNvPr>
          <p:cNvSpPr/>
          <p:nvPr/>
        </p:nvSpPr>
        <p:spPr>
          <a:xfrm>
            <a:off x="9791893" y="6292689"/>
            <a:ext cx="7573685" cy="612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1" name="Text 7">
            <a:extLst>
              <a:ext uri="{FF2B5EF4-FFF2-40B4-BE49-F238E27FC236}">
                <a16:creationId xmlns:a16="http://schemas.microsoft.com/office/drawing/2014/main" id="{9C070F32-AAAB-4CDB-903B-1D0AF9CF34F3}"/>
              </a:ext>
            </a:extLst>
          </p:cNvPr>
          <p:cNvSpPr/>
          <p:nvPr/>
        </p:nvSpPr>
        <p:spPr>
          <a:xfrm>
            <a:off x="9791893" y="6311628"/>
            <a:ext cx="6887174" cy="537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"AUTH_OK" → </a:t>
            </a:r>
            <a:r>
              <a:rPr lang="en-US" sz="280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</a:t>
            </a:r>
            <a:r>
              <a:rPr lang="en-US" sz="2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80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phép</a:t>
            </a:r>
            <a:r>
              <a:rPr lang="en-US" sz="2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80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vào</a:t>
            </a:r>
            <a:endParaRPr lang="en-US" sz="2800" dirty="0"/>
          </a:p>
        </p:txBody>
      </p:sp>
      <p:sp>
        <p:nvSpPr>
          <p:cNvPr id="142" name="Shape 2">
            <a:extLst>
              <a:ext uri="{FF2B5EF4-FFF2-40B4-BE49-F238E27FC236}">
                <a16:creationId xmlns:a16="http://schemas.microsoft.com/office/drawing/2014/main" id="{9CF988C4-6DA8-4180-B91E-1C16B91DEE22}"/>
              </a:ext>
            </a:extLst>
          </p:cNvPr>
          <p:cNvSpPr/>
          <p:nvPr/>
        </p:nvSpPr>
        <p:spPr>
          <a:xfrm>
            <a:off x="1780127" y="7354333"/>
            <a:ext cx="1075944" cy="1091611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3" name="Text 3">
            <a:extLst>
              <a:ext uri="{FF2B5EF4-FFF2-40B4-BE49-F238E27FC236}">
                <a16:creationId xmlns:a16="http://schemas.microsoft.com/office/drawing/2014/main" id="{57443B81-A0D0-4801-97E1-ED53659E09F5}"/>
              </a:ext>
            </a:extLst>
          </p:cNvPr>
          <p:cNvSpPr/>
          <p:nvPr/>
        </p:nvSpPr>
        <p:spPr>
          <a:xfrm>
            <a:off x="1780127" y="7369968"/>
            <a:ext cx="1075944" cy="1091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5</a:t>
            </a:r>
            <a:endParaRPr lang="en-US" sz="6000" dirty="0"/>
          </a:p>
        </p:txBody>
      </p:sp>
      <p:sp>
        <p:nvSpPr>
          <p:cNvPr id="144" name="Text 5">
            <a:extLst>
              <a:ext uri="{FF2B5EF4-FFF2-40B4-BE49-F238E27FC236}">
                <a16:creationId xmlns:a16="http://schemas.microsoft.com/office/drawing/2014/main" id="{1F826FFD-3A3D-408F-86FD-0B028873DD35}"/>
              </a:ext>
            </a:extLst>
          </p:cNvPr>
          <p:cNvSpPr/>
          <p:nvPr/>
        </p:nvSpPr>
        <p:spPr>
          <a:xfrm>
            <a:off x="3124379" y="77277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gửi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Shape 6">
            <a:extLst>
              <a:ext uri="{FF2B5EF4-FFF2-40B4-BE49-F238E27FC236}">
                <a16:creationId xmlns:a16="http://schemas.microsoft.com/office/drawing/2014/main" id="{A137EDC2-58CA-4E19-8B3A-410222E3BB0F}"/>
              </a:ext>
            </a:extLst>
          </p:cNvPr>
          <p:cNvSpPr/>
          <p:nvPr/>
        </p:nvSpPr>
        <p:spPr>
          <a:xfrm>
            <a:off x="9791894" y="7675852"/>
            <a:ext cx="7509516" cy="612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6" name="Text 7">
            <a:extLst>
              <a:ext uri="{FF2B5EF4-FFF2-40B4-BE49-F238E27FC236}">
                <a16:creationId xmlns:a16="http://schemas.microsoft.com/office/drawing/2014/main" id="{E2A42EA9-4083-4B82-9CC5-D4F87C1F7130}"/>
              </a:ext>
            </a:extLst>
          </p:cNvPr>
          <p:cNvSpPr/>
          <p:nvPr/>
        </p:nvSpPr>
        <p:spPr>
          <a:xfrm>
            <a:off x="9889430" y="7729936"/>
            <a:ext cx="6887174" cy="537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writer.write</a:t>
            </a:r>
            <a:r>
              <a:rPr lang="en-US" sz="2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(command + "\n")</a:t>
            </a:r>
            <a:endParaRPr lang="en-US" sz="2800" dirty="0"/>
          </a:p>
        </p:txBody>
      </p:sp>
      <p:sp>
        <p:nvSpPr>
          <p:cNvPr id="147" name="Shape 2">
            <a:extLst>
              <a:ext uri="{FF2B5EF4-FFF2-40B4-BE49-F238E27FC236}">
                <a16:creationId xmlns:a16="http://schemas.microsoft.com/office/drawing/2014/main" id="{CDD6C432-26DD-4A4C-8864-D2227AEDFED1}"/>
              </a:ext>
            </a:extLst>
          </p:cNvPr>
          <p:cNvSpPr/>
          <p:nvPr/>
        </p:nvSpPr>
        <p:spPr>
          <a:xfrm>
            <a:off x="1800180" y="8721471"/>
            <a:ext cx="1075944" cy="1091611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8" name="Text 3">
            <a:extLst>
              <a:ext uri="{FF2B5EF4-FFF2-40B4-BE49-F238E27FC236}">
                <a16:creationId xmlns:a16="http://schemas.microsoft.com/office/drawing/2014/main" id="{4D84D63D-9AE6-4E25-A85C-5F75332FE0D6}"/>
              </a:ext>
            </a:extLst>
          </p:cNvPr>
          <p:cNvSpPr/>
          <p:nvPr/>
        </p:nvSpPr>
        <p:spPr>
          <a:xfrm>
            <a:off x="1800180" y="8737106"/>
            <a:ext cx="1075944" cy="1091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6</a:t>
            </a:r>
            <a:endParaRPr lang="en-US" sz="6000" dirty="0"/>
          </a:p>
        </p:txBody>
      </p:sp>
      <p:sp>
        <p:nvSpPr>
          <p:cNvPr id="149" name="Text 5">
            <a:extLst>
              <a:ext uri="{FF2B5EF4-FFF2-40B4-BE49-F238E27FC236}">
                <a16:creationId xmlns:a16="http://schemas.microsoft.com/office/drawing/2014/main" id="{E5604DCB-960F-4DB9-A8B3-C48941A5E333}"/>
              </a:ext>
            </a:extLst>
          </p:cNvPr>
          <p:cNvSpPr/>
          <p:nvPr/>
        </p:nvSpPr>
        <p:spPr>
          <a:xfrm>
            <a:off x="3144432" y="8558084"/>
            <a:ext cx="6990168" cy="1418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Shape 6">
            <a:extLst>
              <a:ext uri="{FF2B5EF4-FFF2-40B4-BE49-F238E27FC236}">
                <a16:creationId xmlns:a16="http://schemas.microsoft.com/office/drawing/2014/main" id="{AF6F07D8-C966-421F-B4D0-73B65A0F79C5}"/>
              </a:ext>
            </a:extLst>
          </p:cNvPr>
          <p:cNvSpPr/>
          <p:nvPr/>
        </p:nvSpPr>
        <p:spPr>
          <a:xfrm>
            <a:off x="9811946" y="9042990"/>
            <a:ext cx="7553631" cy="612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1" name="Text 7">
            <a:extLst>
              <a:ext uri="{FF2B5EF4-FFF2-40B4-BE49-F238E27FC236}">
                <a16:creationId xmlns:a16="http://schemas.microsoft.com/office/drawing/2014/main" id="{6B9B4C47-2657-4FD4-92EA-3F64766CE112}"/>
              </a:ext>
            </a:extLst>
          </p:cNvPr>
          <p:cNvSpPr/>
          <p:nvPr/>
        </p:nvSpPr>
        <p:spPr>
          <a:xfrm>
            <a:off x="9909483" y="9097074"/>
            <a:ext cx="6887174" cy="537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OUTPUT_BEGIN ... OUTPUT_END</a:t>
            </a:r>
            <a:endParaRPr lang="en-US" sz="2800" dirty="0"/>
          </a:p>
        </p:txBody>
      </p:sp>
      <p:sp>
        <p:nvSpPr>
          <p:cNvPr id="154" name="Shape 10">
            <a:extLst>
              <a:ext uri="{FF2B5EF4-FFF2-40B4-BE49-F238E27FC236}">
                <a16:creationId xmlns:a16="http://schemas.microsoft.com/office/drawing/2014/main" id="{93DB6269-4134-43AD-81FC-491C88B6736F}"/>
              </a:ext>
            </a:extLst>
          </p:cNvPr>
          <p:cNvSpPr/>
          <p:nvPr/>
        </p:nvSpPr>
        <p:spPr>
          <a:xfrm>
            <a:off x="2152006" y="4219408"/>
            <a:ext cx="137282" cy="313535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6" name="Shape 10">
            <a:extLst>
              <a:ext uri="{FF2B5EF4-FFF2-40B4-BE49-F238E27FC236}">
                <a16:creationId xmlns:a16="http://schemas.microsoft.com/office/drawing/2014/main" id="{7CD74663-029B-443D-9325-6F727C36CE1C}"/>
              </a:ext>
            </a:extLst>
          </p:cNvPr>
          <p:cNvSpPr/>
          <p:nvPr/>
        </p:nvSpPr>
        <p:spPr>
          <a:xfrm>
            <a:off x="2152006" y="2830511"/>
            <a:ext cx="137282" cy="31353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7" name="Shape 10">
            <a:extLst>
              <a:ext uri="{FF2B5EF4-FFF2-40B4-BE49-F238E27FC236}">
                <a16:creationId xmlns:a16="http://schemas.microsoft.com/office/drawing/2014/main" id="{02DBA4A3-F28E-4F0D-8109-2E7E4A492198}"/>
              </a:ext>
            </a:extLst>
          </p:cNvPr>
          <p:cNvSpPr/>
          <p:nvPr/>
        </p:nvSpPr>
        <p:spPr>
          <a:xfrm>
            <a:off x="2152006" y="5600393"/>
            <a:ext cx="137282" cy="313535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8" name="Shape 10">
            <a:extLst>
              <a:ext uri="{FF2B5EF4-FFF2-40B4-BE49-F238E27FC236}">
                <a16:creationId xmlns:a16="http://schemas.microsoft.com/office/drawing/2014/main" id="{DDEE53DC-8765-4FAA-9BFD-7AA7F348C461}"/>
              </a:ext>
            </a:extLst>
          </p:cNvPr>
          <p:cNvSpPr/>
          <p:nvPr/>
        </p:nvSpPr>
        <p:spPr>
          <a:xfrm>
            <a:off x="2152006" y="6926487"/>
            <a:ext cx="137282" cy="31353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9" name="Shape 10">
            <a:extLst>
              <a:ext uri="{FF2B5EF4-FFF2-40B4-BE49-F238E27FC236}">
                <a16:creationId xmlns:a16="http://schemas.microsoft.com/office/drawing/2014/main" id="{B0BBF562-9E7E-4EE8-BE5B-B604C664C5B1}"/>
              </a:ext>
            </a:extLst>
          </p:cNvPr>
          <p:cNvSpPr/>
          <p:nvPr/>
        </p:nvSpPr>
        <p:spPr>
          <a:xfrm>
            <a:off x="2152006" y="8305339"/>
            <a:ext cx="137282" cy="31353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flipH="1">
            <a:off x="16112278" y="7773518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0" y="0"/>
                </a:moveTo>
                <a:lnTo>
                  <a:pt x="2495550" y="0"/>
                </a:lnTo>
                <a:lnTo>
                  <a:pt x="2495550" y="2495550"/>
                </a:lnTo>
                <a:lnTo>
                  <a:pt x="0" y="2495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770282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7001274" y="664264"/>
            <a:ext cx="212036" cy="21203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74690" y="664264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664264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49351" y="664264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0591800" y="1485900"/>
            <a:ext cx="3315930" cy="548636"/>
          </a:xfrm>
          <a:custGeom>
            <a:avLst/>
            <a:gdLst/>
            <a:ahLst/>
            <a:cxnLst/>
            <a:rect l="l" t="t" r="r" b="b"/>
            <a:pathLst>
              <a:path w="3315930" h="548636">
                <a:moveTo>
                  <a:pt x="0" y="0"/>
                </a:moveTo>
                <a:lnTo>
                  <a:pt x="3315931" y="0"/>
                </a:lnTo>
                <a:lnTo>
                  <a:pt x="3315931" y="548636"/>
                </a:lnTo>
                <a:lnTo>
                  <a:pt x="0" y="548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62000" y="1181100"/>
            <a:ext cx="9220802" cy="1263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85"/>
              </a:lnSpc>
            </a:pPr>
            <a:r>
              <a:rPr lang="vi-VN" sz="8800" dirty="0">
                <a:solidFill>
                  <a:srgbClr val="FFFF66"/>
                </a:solidFill>
                <a:latin typeface="Josefin Sans Bold" pitchFamily="2" charset="0"/>
              </a:rPr>
              <a:t>Cơ chế xác thực</a:t>
            </a:r>
            <a:endParaRPr lang="en-US" sz="88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28" name="Freeform 28"/>
          <p:cNvSpPr/>
          <p:nvPr/>
        </p:nvSpPr>
        <p:spPr>
          <a:xfrm rot="10800000" flipV="1">
            <a:off x="15907593" y="1083055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0" y="2495550"/>
                </a:moveTo>
                <a:lnTo>
                  <a:pt x="2495550" y="2495550"/>
                </a:lnTo>
                <a:lnTo>
                  <a:pt x="2495550" y="0"/>
                </a:lnTo>
                <a:lnTo>
                  <a:pt x="0" y="0"/>
                </a:lnTo>
                <a:lnTo>
                  <a:pt x="0" y="24955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08C59AF-B116-4708-B194-84235BBD702F}"/>
              </a:ext>
            </a:extLst>
          </p:cNvPr>
          <p:cNvGrpSpPr/>
          <p:nvPr/>
        </p:nvGrpSpPr>
        <p:grpSpPr>
          <a:xfrm>
            <a:off x="1156368" y="2880729"/>
            <a:ext cx="6997032" cy="1641920"/>
            <a:chOff x="1197739" y="5690443"/>
            <a:chExt cx="8908383" cy="164192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D833011-81B2-44A0-8EF3-4CA35F2DAA38}"/>
                </a:ext>
              </a:extLst>
            </p:cNvPr>
            <p:cNvGrpSpPr/>
            <p:nvPr/>
          </p:nvGrpSpPr>
          <p:grpSpPr>
            <a:xfrm>
              <a:off x="1197739" y="5690443"/>
              <a:ext cx="8908383" cy="1641920"/>
              <a:chOff x="8404536" y="3336278"/>
              <a:chExt cx="9045264" cy="2341062"/>
            </a:xfrm>
          </p:grpSpPr>
          <p:sp>
            <p:nvSpPr>
              <p:cNvPr id="34" name="TextBox 31">
                <a:extLst>
                  <a:ext uri="{FF2B5EF4-FFF2-40B4-BE49-F238E27FC236}">
                    <a16:creationId xmlns:a16="http://schemas.microsoft.com/office/drawing/2014/main" id="{E733E376-F830-4EF6-80AB-EF666B1C20AB}"/>
                  </a:ext>
                </a:extLst>
              </p:cNvPr>
              <p:cNvSpPr txBox="1"/>
              <p:nvPr/>
            </p:nvSpPr>
            <p:spPr>
              <a:xfrm>
                <a:off x="8633135" y="3543300"/>
                <a:ext cx="7022987" cy="61436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SERVER → CLIENT</a:t>
                </a:r>
              </a:p>
            </p:txBody>
          </p:sp>
          <p:grpSp>
            <p:nvGrpSpPr>
              <p:cNvPr id="35" name="Group 2">
                <a:extLst>
                  <a:ext uri="{FF2B5EF4-FFF2-40B4-BE49-F238E27FC236}">
                    <a16:creationId xmlns:a16="http://schemas.microsoft.com/office/drawing/2014/main" id="{C443D96C-B9A1-44B6-87D5-B76CE9EC63D6}"/>
                  </a:ext>
                </a:extLst>
              </p:cNvPr>
              <p:cNvGrpSpPr/>
              <p:nvPr/>
            </p:nvGrpSpPr>
            <p:grpSpPr>
              <a:xfrm>
                <a:off x="8404536" y="3336278"/>
                <a:ext cx="9045264" cy="2341062"/>
                <a:chOff x="0" y="0"/>
                <a:chExt cx="1628869" cy="559860"/>
              </a:xfrm>
            </p:grpSpPr>
            <p:sp>
              <p:nvSpPr>
                <p:cNvPr id="36" name="Freeform 3">
                  <a:extLst>
                    <a:ext uri="{FF2B5EF4-FFF2-40B4-BE49-F238E27FC236}">
                      <a16:creationId xmlns:a16="http://schemas.microsoft.com/office/drawing/2014/main" id="{B8B2C25C-4AF2-4616-8CD8-F1C8010974B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28869" cy="559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869" h="559860">
                      <a:moveTo>
                        <a:pt x="25036" y="0"/>
                      </a:moveTo>
                      <a:lnTo>
                        <a:pt x="1603833" y="0"/>
                      </a:lnTo>
                      <a:cubicBezTo>
                        <a:pt x="1610473" y="0"/>
                        <a:pt x="1616841" y="2638"/>
                        <a:pt x="1621536" y="7333"/>
                      </a:cubicBezTo>
                      <a:cubicBezTo>
                        <a:pt x="1626231" y="12028"/>
                        <a:pt x="1628869" y="18396"/>
                        <a:pt x="1628869" y="25036"/>
                      </a:cubicBezTo>
                      <a:lnTo>
                        <a:pt x="1628869" y="534824"/>
                      </a:lnTo>
                      <a:cubicBezTo>
                        <a:pt x="1628869" y="541464"/>
                        <a:pt x="1626231" y="547832"/>
                        <a:pt x="1621536" y="552528"/>
                      </a:cubicBezTo>
                      <a:cubicBezTo>
                        <a:pt x="1616841" y="557223"/>
                        <a:pt x="1610473" y="559860"/>
                        <a:pt x="1603833" y="559860"/>
                      </a:cubicBezTo>
                      <a:lnTo>
                        <a:pt x="25036" y="559860"/>
                      </a:lnTo>
                      <a:cubicBezTo>
                        <a:pt x="18396" y="559860"/>
                        <a:pt x="12028" y="557223"/>
                        <a:pt x="7333" y="552528"/>
                      </a:cubicBezTo>
                      <a:cubicBezTo>
                        <a:pt x="2638" y="547832"/>
                        <a:pt x="0" y="541464"/>
                        <a:pt x="0" y="534824"/>
                      </a:cubicBezTo>
                      <a:lnTo>
                        <a:pt x="0" y="25036"/>
                      </a:lnTo>
                      <a:cubicBezTo>
                        <a:pt x="0" y="18396"/>
                        <a:pt x="2638" y="12028"/>
                        <a:pt x="7333" y="7333"/>
                      </a:cubicBezTo>
                      <a:cubicBezTo>
                        <a:pt x="12028" y="2638"/>
                        <a:pt x="18396" y="0"/>
                        <a:pt x="25036" y="0"/>
                      </a:cubicBezTo>
                      <a:close/>
                    </a:path>
                  </a:pathLst>
                </a:custGeom>
                <a:ln w="9525" cap="sq">
                  <a:solidFill>
                    <a:srgbClr val="EFDDFF">
                      <a:alpha val="60000"/>
                    </a:srgbClr>
                  </a:solidFill>
                  <a:prstDash val="solid"/>
                  <a:miter/>
                </a:ln>
              </p:spPr>
            </p:sp>
            <p:sp>
              <p:nvSpPr>
                <p:cNvPr id="37" name="TextBox 4">
                  <a:extLst>
                    <a:ext uri="{FF2B5EF4-FFF2-40B4-BE49-F238E27FC236}">
                      <a16:creationId xmlns:a16="http://schemas.microsoft.com/office/drawing/2014/main" id="{AA5A92F0-322E-48FB-A584-A03FD7E21576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628869" cy="59796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  <a:spcBef>
                      <a:spcPct val="0"/>
                    </a:spcBef>
                  </a:pPr>
                  <a:endParaRPr lang="en-US" dirty="0"/>
                </a:p>
              </p:txBody>
            </p:sp>
          </p:grpSp>
        </p:grpSp>
        <p:sp>
          <p:nvSpPr>
            <p:cNvPr id="43" name="TextBox 31">
              <a:extLst>
                <a:ext uri="{FF2B5EF4-FFF2-40B4-BE49-F238E27FC236}">
                  <a16:creationId xmlns:a16="http://schemas.microsoft.com/office/drawing/2014/main" id="{A5EE51DB-8911-47B0-A941-46C140D14E52}"/>
                </a:ext>
              </a:extLst>
            </p:cNvPr>
            <p:cNvSpPr txBox="1"/>
            <p:nvPr/>
          </p:nvSpPr>
          <p:spPr>
            <a:xfrm>
              <a:off x="2495550" y="6483496"/>
              <a:ext cx="6656274" cy="4924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AUTH_REQUIRED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8143475-288E-480B-9D8D-541B9FE0C7F3}"/>
              </a:ext>
            </a:extLst>
          </p:cNvPr>
          <p:cNvGrpSpPr/>
          <p:nvPr/>
        </p:nvGrpSpPr>
        <p:grpSpPr>
          <a:xfrm>
            <a:off x="1156366" y="5228223"/>
            <a:ext cx="6997032" cy="1641920"/>
            <a:chOff x="1197739" y="5690443"/>
            <a:chExt cx="8908383" cy="164192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6DEA4FD-12C6-455A-AA85-1749EFCE92BE}"/>
                </a:ext>
              </a:extLst>
            </p:cNvPr>
            <p:cNvGrpSpPr/>
            <p:nvPr/>
          </p:nvGrpSpPr>
          <p:grpSpPr>
            <a:xfrm>
              <a:off x="1197739" y="5690443"/>
              <a:ext cx="8908383" cy="1641920"/>
              <a:chOff x="8404536" y="3336278"/>
              <a:chExt cx="9045264" cy="2341062"/>
            </a:xfrm>
          </p:grpSpPr>
          <p:sp>
            <p:nvSpPr>
              <p:cNvPr id="48" name="TextBox 31">
                <a:extLst>
                  <a:ext uri="{FF2B5EF4-FFF2-40B4-BE49-F238E27FC236}">
                    <a16:creationId xmlns:a16="http://schemas.microsoft.com/office/drawing/2014/main" id="{112F5323-81F6-4BE1-AFEB-6E4AA69E508D}"/>
                  </a:ext>
                </a:extLst>
              </p:cNvPr>
              <p:cNvSpPr txBox="1"/>
              <p:nvPr/>
            </p:nvSpPr>
            <p:spPr>
              <a:xfrm>
                <a:off x="8633135" y="3543300"/>
                <a:ext cx="7022987" cy="61436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CLIENT → SERVER</a:t>
                </a:r>
              </a:p>
            </p:txBody>
          </p:sp>
          <p:grpSp>
            <p:nvGrpSpPr>
              <p:cNvPr id="49" name="Group 2">
                <a:extLst>
                  <a:ext uri="{FF2B5EF4-FFF2-40B4-BE49-F238E27FC236}">
                    <a16:creationId xmlns:a16="http://schemas.microsoft.com/office/drawing/2014/main" id="{DBC00200-0414-4847-AA53-9C3302A52BAD}"/>
                  </a:ext>
                </a:extLst>
              </p:cNvPr>
              <p:cNvGrpSpPr/>
              <p:nvPr/>
            </p:nvGrpSpPr>
            <p:grpSpPr>
              <a:xfrm>
                <a:off x="8404536" y="3336278"/>
                <a:ext cx="9045264" cy="2341062"/>
                <a:chOff x="0" y="0"/>
                <a:chExt cx="1628869" cy="559860"/>
              </a:xfrm>
            </p:grpSpPr>
            <p:sp>
              <p:nvSpPr>
                <p:cNvPr id="50" name="Freeform 3">
                  <a:extLst>
                    <a:ext uri="{FF2B5EF4-FFF2-40B4-BE49-F238E27FC236}">
                      <a16:creationId xmlns:a16="http://schemas.microsoft.com/office/drawing/2014/main" id="{2120B261-40CA-4310-9EBB-C0380FD8642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28869" cy="559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869" h="559860">
                      <a:moveTo>
                        <a:pt x="25036" y="0"/>
                      </a:moveTo>
                      <a:lnTo>
                        <a:pt x="1603833" y="0"/>
                      </a:lnTo>
                      <a:cubicBezTo>
                        <a:pt x="1610473" y="0"/>
                        <a:pt x="1616841" y="2638"/>
                        <a:pt x="1621536" y="7333"/>
                      </a:cubicBezTo>
                      <a:cubicBezTo>
                        <a:pt x="1626231" y="12028"/>
                        <a:pt x="1628869" y="18396"/>
                        <a:pt x="1628869" y="25036"/>
                      </a:cubicBezTo>
                      <a:lnTo>
                        <a:pt x="1628869" y="534824"/>
                      </a:lnTo>
                      <a:cubicBezTo>
                        <a:pt x="1628869" y="541464"/>
                        <a:pt x="1626231" y="547832"/>
                        <a:pt x="1621536" y="552528"/>
                      </a:cubicBezTo>
                      <a:cubicBezTo>
                        <a:pt x="1616841" y="557223"/>
                        <a:pt x="1610473" y="559860"/>
                        <a:pt x="1603833" y="559860"/>
                      </a:cubicBezTo>
                      <a:lnTo>
                        <a:pt x="25036" y="559860"/>
                      </a:lnTo>
                      <a:cubicBezTo>
                        <a:pt x="18396" y="559860"/>
                        <a:pt x="12028" y="557223"/>
                        <a:pt x="7333" y="552528"/>
                      </a:cubicBezTo>
                      <a:cubicBezTo>
                        <a:pt x="2638" y="547832"/>
                        <a:pt x="0" y="541464"/>
                        <a:pt x="0" y="534824"/>
                      </a:cubicBezTo>
                      <a:lnTo>
                        <a:pt x="0" y="25036"/>
                      </a:lnTo>
                      <a:cubicBezTo>
                        <a:pt x="0" y="18396"/>
                        <a:pt x="2638" y="12028"/>
                        <a:pt x="7333" y="7333"/>
                      </a:cubicBezTo>
                      <a:cubicBezTo>
                        <a:pt x="12028" y="2638"/>
                        <a:pt x="18396" y="0"/>
                        <a:pt x="25036" y="0"/>
                      </a:cubicBezTo>
                      <a:close/>
                    </a:path>
                  </a:pathLst>
                </a:custGeom>
                <a:ln w="9525" cap="sq">
                  <a:solidFill>
                    <a:srgbClr val="EFDDFF">
                      <a:alpha val="60000"/>
                    </a:srgbClr>
                  </a:solidFill>
                  <a:prstDash val="solid"/>
                  <a:miter/>
                </a:ln>
              </p:spPr>
            </p:sp>
            <p:sp>
              <p:nvSpPr>
                <p:cNvPr id="51" name="TextBox 4">
                  <a:extLst>
                    <a:ext uri="{FF2B5EF4-FFF2-40B4-BE49-F238E27FC236}">
                      <a16:creationId xmlns:a16="http://schemas.microsoft.com/office/drawing/2014/main" id="{DD20745D-EDCF-4FDE-A964-A809D4CC1A86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628869" cy="59796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  <a:spcBef>
                      <a:spcPct val="0"/>
                    </a:spcBef>
                  </a:pPr>
                  <a:endParaRPr lang="en-US" dirty="0"/>
                </a:p>
              </p:txBody>
            </p:sp>
          </p:grpSp>
        </p:grpSp>
        <p:sp>
          <p:nvSpPr>
            <p:cNvPr id="47" name="TextBox 31">
              <a:extLst>
                <a:ext uri="{FF2B5EF4-FFF2-40B4-BE49-F238E27FC236}">
                  <a16:creationId xmlns:a16="http://schemas.microsoft.com/office/drawing/2014/main" id="{F14B961F-9EA2-4CFD-9D02-5A6A7A6A2ADA}"/>
                </a:ext>
              </a:extLst>
            </p:cNvPr>
            <p:cNvSpPr txBox="1"/>
            <p:nvPr/>
          </p:nvSpPr>
          <p:spPr>
            <a:xfrm>
              <a:off x="2495550" y="6483496"/>
              <a:ext cx="6656274" cy="4924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Password </a:t>
              </a:r>
              <a:r>
                <a:rPr lang="en-US" sz="32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lưu</a:t>
              </a:r>
              <a:r>
                <a:rPr lang="en-US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32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</a:t>
              </a:r>
              <a:r>
                <a:rPr lang="en-US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server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C08AE9A-C85D-4565-861C-74D30B994557}"/>
              </a:ext>
            </a:extLst>
          </p:cNvPr>
          <p:cNvGrpSpPr/>
          <p:nvPr/>
        </p:nvGrpSpPr>
        <p:grpSpPr>
          <a:xfrm>
            <a:off x="1156366" y="7463980"/>
            <a:ext cx="6997032" cy="1641920"/>
            <a:chOff x="1197739" y="5690443"/>
            <a:chExt cx="8908383" cy="164192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9DEE2AD-4832-4786-8EE1-A48E7BF4D4C6}"/>
                </a:ext>
              </a:extLst>
            </p:cNvPr>
            <p:cNvGrpSpPr/>
            <p:nvPr/>
          </p:nvGrpSpPr>
          <p:grpSpPr>
            <a:xfrm>
              <a:off x="1197739" y="5690443"/>
              <a:ext cx="8908383" cy="1641920"/>
              <a:chOff x="8404536" y="3336278"/>
              <a:chExt cx="9045264" cy="2341062"/>
            </a:xfrm>
          </p:grpSpPr>
          <p:sp>
            <p:nvSpPr>
              <p:cNvPr id="55" name="TextBox 31">
                <a:extLst>
                  <a:ext uri="{FF2B5EF4-FFF2-40B4-BE49-F238E27FC236}">
                    <a16:creationId xmlns:a16="http://schemas.microsoft.com/office/drawing/2014/main" id="{6F385FDF-B85F-4E34-9481-E6E2DAEAA217}"/>
                  </a:ext>
                </a:extLst>
              </p:cNvPr>
              <p:cNvSpPr txBox="1"/>
              <p:nvPr/>
            </p:nvSpPr>
            <p:spPr>
              <a:xfrm>
                <a:off x="8633135" y="3543300"/>
                <a:ext cx="7022987" cy="61436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SERVER → CLIENT</a:t>
                </a:r>
              </a:p>
            </p:txBody>
          </p:sp>
          <p:grpSp>
            <p:nvGrpSpPr>
              <p:cNvPr id="56" name="Group 2">
                <a:extLst>
                  <a:ext uri="{FF2B5EF4-FFF2-40B4-BE49-F238E27FC236}">
                    <a16:creationId xmlns:a16="http://schemas.microsoft.com/office/drawing/2014/main" id="{08B1D8FE-9BBD-4387-A50F-83B1EAFB0BC4}"/>
                  </a:ext>
                </a:extLst>
              </p:cNvPr>
              <p:cNvGrpSpPr/>
              <p:nvPr/>
            </p:nvGrpSpPr>
            <p:grpSpPr>
              <a:xfrm>
                <a:off x="8404536" y="3336278"/>
                <a:ext cx="9045264" cy="2341062"/>
                <a:chOff x="0" y="0"/>
                <a:chExt cx="1628869" cy="559860"/>
              </a:xfrm>
            </p:grpSpPr>
            <p:sp>
              <p:nvSpPr>
                <p:cNvPr id="57" name="Freeform 3">
                  <a:extLst>
                    <a:ext uri="{FF2B5EF4-FFF2-40B4-BE49-F238E27FC236}">
                      <a16:creationId xmlns:a16="http://schemas.microsoft.com/office/drawing/2014/main" id="{A204C197-7D3E-406C-91E7-03795CEBA62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28869" cy="559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869" h="559860">
                      <a:moveTo>
                        <a:pt x="25036" y="0"/>
                      </a:moveTo>
                      <a:lnTo>
                        <a:pt x="1603833" y="0"/>
                      </a:lnTo>
                      <a:cubicBezTo>
                        <a:pt x="1610473" y="0"/>
                        <a:pt x="1616841" y="2638"/>
                        <a:pt x="1621536" y="7333"/>
                      </a:cubicBezTo>
                      <a:cubicBezTo>
                        <a:pt x="1626231" y="12028"/>
                        <a:pt x="1628869" y="18396"/>
                        <a:pt x="1628869" y="25036"/>
                      </a:cubicBezTo>
                      <a:lnTo>
                        <a:pt x="1628869" y="534824"/>
                      </a:lnTo>
                      <a:cubicBezTo>
                        <a:pt x="1628869" y="541464"/>
                        <a:pt x="1626231" y="547832"/>
                        <a:pt x="1621536" y="552528"/>
                      </a:cubicBezTo>
                      <a:cubicBezTo>
                        <a:pt x="1616841" y="557223"/>
                        <a:pt x="1610473" y="559860"/>
                        <a:pt x="1603833" y="559860"/>
                      </a:cubicBezTo>
                      <a:lnTo>
                        <a:pt x="25036" y="559860"/>
                      </a:lnTo>
                      <a:cubicBezTo>
                        <a:pt x="18396" y="559860"/>
                        <a:pt x="12028" y="557223"/>
                        <a:pt x="7333" y="552528"/>
                      </a:cubicBezTo>
                      <a:cubicBezTo>
                        <a:pt x="2638" y="547832"/>
                        <a:pt x="0" y="541464"/>
                        <a:pt x="0" y="534824"/>
                      </a:cubicBezTo>
                      <a:lnTo>
                        <a:pt x="0" y="25036"/>
                      </a:lnTo>
                      <a:cubicBezTo>
                        <a:pt x="0" y="18396"/>
                        <a:pt x="2638" y="12028"/>
                        <a:pt x="7333" y="7333"/>
                      </a:cubicBezTo>
                      <a:cubicBezTo>
                        <a:pt x="12028" y="2638"/>
                        <a:pt x="18396" y="0"/>
                        <a:pt x="25036" y="0"/>
                      </a:cubicBezTo>
                      <a:close/>
                    </a:path>
                  </a:pathLst>
                </a:custGeom>
                <a:ln w="9525" cap="sq">
                  <a:solidFill>
                    <a:srgbClr val="EFDDFF">
                      <a:alpha val="60000"/>
                    </a:srgbClr>
                  </a:solidFill>
                  <a:prstDash val="solid"/>
                  <a:miter/>
                </a:ln>
              </p:spPr>
            </p:sp>
            <p:sp>
              <p:nvSpPr>
                <p:cNvPr id="58" name="TextBox 4">
                  <a:extLst>
                    <a:ext uri="{FF2B5EF4-FFF2-40B4-BE49-F238E27FC236}">
                      <a16:creationId xmlns:a16="http://schemas.microsoft.com/office/drawing/2014/main" id="{BC13613C-528D-4599-AC2E-1452E24B1DA5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628869" cy="59796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  <a:spcBef>
                      <a:spcPct val="0"/>
                    </a:spcBef>
                  </a:pPr>
                  <a:endParaRPr lang="en-US" dirty="0"/>
                </a:p>
              </p:txBody>
            </p:sp>
          </p:grpSp>
        </p:grpSp>
        <p:sp>
          <p:nvSpPr>
            <p:cNvPr id="54" name="TextBox 31">
              <a:extLst>
                <a:ext uri="{FF2B5EF4-FFF2-40B4-BE49-F238E27FC236}">
                  <a16:creationId xmlns:a16="http://schemas.microsoft.com/office/drawing/2014/main" id="{2CC195CA-DEF7-4584-9357-352FA40A21A4}"/>
                </a:ext>
              </a:extLst>
            </p:cNvPr>
            <p:cNvSpPr txBox="1"/>
            <p:nvPr/>
          </p:nvSpPr>
          <p:spPr>
            <a:xfrm>
              <a:off x="2495548" y="6483496"/>
              <a:ext cx="7610572" cy="4924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AUTH_OK </a:t>
              </a:r>
              <a:r>
                <a:rPr lang="en-US" sz="32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hoặc</a:t>
              </a:r>
              <a:r>
                <a:rPr lang="en-US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AUTH_FAIL </a:t>
              </a:r>
            </a:p>
          </p:txBody>
        </p:sp>
      </p:grpSp>
      <p:sp>
        <p:nvSpPr>
          <p:cNvPr id="59" name="Shape 14">
            <a:extLst>
              <a:ext uri="{FF2B5EF4-FFF2-40B4-BE49-F238E27FC236}">
                <a16:creationId xmlns:a16="http://schemas.microsoft.com/office/drawing/2014/main" id="{D137DBBC-CAA8-44DC-BECF-6B096DCFBB46}"/>
              </a:ext>
            </a:extLst>
          </p:cNvPr>
          <p:cNvSpPr/>
          <p:nvPr/>
        </p:nvSpPr>
        <p:spPr>
          <a:xfrm>
            <a:off x="8589063" y="2672032"/>
            <a:ext cx="9220802" cy="6738668"/>
          </a:xfrm>
          <a:prstGeom prst="rect">
            <a:avLst/>
          </a:prstGeom>
          <a:solidFill>
            <a:srgbClr val="1A2A3A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20E573B1-7B24-421D-8C09-79067B782FD1}"/>
              </a:ext>
            </a:extLst>
          </p:cNvPr>
          <p:cNvSpPr/>
          <p:nvPr/>
        </p:nvSpPr>
        <p:spPr>
          <a:xfrm>
            <a:off x="8788260" y="2901559"/>
            <a:ext cx="9584936" cy="6424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writer.write("AUTH_REQUIRED\n");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writer.flush();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password = reader.readLine();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(!SERVER_PASSWORD.equals(password)) {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writer.write("AUTH_FAIL\n");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return;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writer.write("AUTH_OK\n");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7">
            <a:extLst>
              <a:ext uri="{FF2B5EF4-FFF2-40B4-BE49-F238E27FC236}">
                <a16:creationId xmlns:a16="http://schemas.microsoft.com/office/drawing/2014/main" id="{ED31EFE5-6189-4887-89A1-7CE66126CCB1}"/>
              </a:ext>
            </a:extLst>
          </p:cNvPr>
          <p:cNvSpPr/>
          <p:nvPr/>
        </p:nvSpPr>
        <p:spPr>
          <a:xfrm flipH="1" flipV="1">
            <a:off x="14849549" y="9747"/>
            <a:ext cx="3493010" cy="3493010"/>
          </a:xfrm>
          <a:custGeom>
            <a:avLst/>
            <a:gdLst/>
            <a:ahLst/>
            <a:cxnLst/>
            <a:rect l="l" t="t" r="r" b="b"/>
            <a:pathLst>
              <a:path w="3493010" h="3493010">
                <a:moveTo>
                  <a:pt x="3493010" y="3493009"/>
                </a:moveTo>
                <a:lnTo>
                  <a:pt x="0" y="3493009"/>
                </a:lnTo>
                <a:lnTo>
                  <a:pt x="0" y="0"/>
                </a:lnTo>
                <a:lnTo>
                  <a:pt x="3493010" y="0"/>
                </a:lnTo>
                <a:lnTo>
                  <a:pt x="3493010" y="34930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flipV="1">
            <a:off x="1028700" y="448918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0" y="8225889"/>
            <a:ext cx="2174757" cy="2174757"/>
          </a:xfrm>
          <a:custGeom>
            <a:avLst/>
            <a:gdLst/>
            <a:ahLst/>
            <a:cxnLst/>
            <a:rect l="l" t="t" r="r" b="b"/>
            <a:pathLst>
              <a:path w="2174757" h="2174757">
                <a:moveTo>
                  <a:pt x="0" y="0"/>
                </a:moveTo>
                <a:lnTo>
                  <a:pt x="2174757" y="0"/>
                </a:lnTo>
                <a:lnTo>
                  <a:pt x="2174757" y="2174757"/>
                </a:lnTo>
                <a:lnTo>
                  <a:pt x="0" y="2174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001274" y="342900"/>
            <a:ext cx="212036" cy="21203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74690" y="342900"/>
            <a:ext cx="212036" cy="21203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342900"/>
            <a:ext cx="212036" cy="21203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049351" y="342900"/>
            <a:ext cx="212036" cy="21203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94717" y="762209"/>
            <a:ext cx="16154633" cy="1417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1"/>
              </a:lnSpc>
            </a:pPr>
            <a:r>
              <a:rPr lang="en-US" sz="9600" dirty="0">
                <a:solidFill>
                  <a:srgbClr val="FFFF66"/>
                </a:solidFill>
                <a:latin typeface="Josefin Sans Bold" pitchFamily="2" charset="0"/>
              </a:rPr>
              <a:t>Giao </a:t>
            </a:r>
            <a:r>
              <a:rPr lang="en-US" sz="9600" dirty="0" err="1">
                <a:solidFill>
                  <a:srgbClr val="FFFF66"/>
                </a:solidFill>
                <a:latin typeface="Josefin Sans Bold" pitchFamily="2" charset="0"/>
              </a:rPr>
              <a:t>thức</a:t>
            </a:r>
            <a:r>
              <a:rPr lang="en-US" sz="96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9600" dirty="0" err="1">
                <a:solidFill>
                  <a:srgbClr val="FFFF66"/>
                </a:solidFill>
                <a:latin typeface="Josefin Sans Bold" pitchFamily="2" charset="0"/>
              </a:rPr>
              <a:t>truyền</a:t>
            </a:r>
            <a:r>
              <a:rPr lang="en-US" sz="96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9600" dirty="0" err="1">
                <a:solidFill>
                  <a:srgbClr val="FFFF66"/>
                </a:solidFill>
                <a:latin typeface="Josefin Sans Bold" pitchFamily="2" charset="0"/>
              </a:rPr>
              <a:t>dữ</a:t>
            </a:r>
            <a:r>
              <a:rPr lang="en-US" sz="96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9600" dirty="0" err="1">
                <a:solidFill>
                  <a:srgbClr val="FFFF66"/>
                </a:solidFill>
                <a:latin typeface="Josefin Sans Bold" pitchFamily="2" charset="0"/>
              </a:rPr>
              <a:t>liệu</a:t>
            </a:r>
            <a:endParaRPr lang="en-US" sz="96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633D050B-5023-403E-B88A-C72679CF854B}"/>
              </a:ext>
            </a:extLst>
          </p:cNvPr>
          <p:cNvSpPr/>
          <p:nvPr/>
        </p:nvSpPr>
        <p:spPr>
          <a:xfrm>
            <a:off x="1048579" y="2714628"/>
            <a:ext cx="7104822" cy="6224154"/>
          </a:xfrm>
          <a:prstGeom prst="rect">
            <a:avLst/>
          </a:prstGeom>
          <a:solidFill>
            <a:srgbClr val="1A2A3A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19E1FC41-9BF6-4B54-A7DD-77511997B20D}"/>
              </a:ext>
            </a:extLst>
          </p:cNvPr>
          <p:cNvSpPr/>
          <p:nvPr/>
        </p:nvSpPr>
        <p:spPr>
          <a:xfrm>
            <a:off x="1308134" y="4429766"/>
            <a:ext cx="6311866" cy="3168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OUTPUT_BEGIN
</a:t>
            </a:r>
            <a:r>
              <a:rPr lang="en-US" sz="28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&lt;nội dung output lệnh&gt;
</a:t>
            </a:r>
            <a:r>
              <a:rPr lang="en-US" sz="2800" i="1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directory: /path
Exit code: 0
</a:t>
            </a:r>
            <a:r>
              <a:rPr lang="en-US" sz="2800" b="1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OUTPUT_END</a:t>
            </a:r>
            <a:endParaRPr lang="en-US" sz="28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5168DDCB-A3F5-4162-885C-941DD9C28154}"/>
              </a:ext>
            </a:extLst>
          </p:cNvPr>
          <p:cNvSpPr/>
          <p:nvPr/>
        </p:nvSpPr>
        <p:spPr>
          <a:xfrm>
            <a:off x="1134717" y="2907081"/>
            <a:ext cx="3840480" cy="7133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 dạng response</a:t>
            </a: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BFCF364B-4D39-485E-B12E-F8D24610847D}"/>
              </a:ext>
            </a:extLst>
          </p:cNvPr>
          <p:cNvSpPr/>
          <p:nvPr/>
        </p:nvSpPr>
        <p:spPr>
          <a:xfrm>
            <a:off x="8778240" y="2714627"/>
            <a:ext cx="137160" cy="1715139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53260990-028D-4E71-A92E-B7B48FAB12F1}"/>
              </a:ext>
            </a:extLst>
          </p:cNvPr>
          <p:cNvSpPr/>
          <p:nvPr/>
        </p:nvSpPr>
        <p:spPr>
          <a:xfrm>
            <a:off x="9146308" y="2677168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OUTPUT_BEGIN / OUTPUT_END</a:t>
            </a: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420F7B0E-D390-4927-868A-15BBD6D294AF}"/>
              </a:ext>
            </a:extLst>
          </p:cNvPr>
          <p:cNvSpPr/>
          <p:nvPr/>
        </p:nvSpPr>
        <p:spPr>
          <a:xfrm>
            <a:off x="9146308" y="3572197"/>
            <a:ext cx="7986139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rõ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ràng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bắt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thúc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đọc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16F2DB27-5C37-4EB6-82BF-95298147F65B}"/>
              </a:ext>
            </a:extLst>
          </p:cNvPr>
          <p:cNvSpPr/>
          <p:nvPr/>
        </p:nvSpPr>
        <p:spPr>
          <a:xfrm>
            <a:off x="8778240" y="4969135"/>
            <a:ext cx="137160" cy="171513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2F6C1342-5CF1-4920-965E-14E8D45B55E6}"/>
              </a:ext>
            </a:extLst>
          </p:cNvPr>
          <p:cNvSpPr/>
          <p:nvPr/>
        </p:nvSpPr>
        <p:spPr>
          <a:xfrm>
            <a:off x="9146308" y="4931676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output</a:t>
            </a: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9CB344CE-CAD8-491F-8159-24BC9DB1BCB7}"/>
              </a:ext>
            </a:extLst>
          </p:cNvPr>
          <p:cNvSpPr/>
          <p:nvPr/>
        </p:nvSpPr>
        <p:spPr>
          <a:xfrm>
            <a:off x="9146308" y="5826705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dòng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 dirty="0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5C86D4A5-0AAD-499B-AB24-3D3F73040A34}"/>
              </a:ext>
            </a:extLst>
          </p:cNvPr>
          <p:cNvSpPr/>
          <p:nvPr/>
        </p:nvSpPr>
        <p:spPr>
          <a:xfrm>
            <a:off x="8770763" y="7223643"/>
            <a:ext cx="137160" cy="171513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007FB2D6-81C4-469E-A249-C88319E2D582}"/>
              </a:ext>
            </a:extLst>
          </p:cNvPr>
          <p:cNvSpPr/>
          <p:nvPr/>
        </p:nvSpPr>
        <p:spPr>
          <a:xfrm>
            <a:off x="9138831" y="7186184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132447F7-ACE6-4B77-A57B-E305D0BFD5D3}"/>
              </a:ext>
            </a:extLst>
          </p:cNvPr>
          <p:cNvSpPr/>
          <p:nvPr/>
        </p:nvSpPr>
        <p:spPr>
          <a:xfrm>
            <a:off x="9138831" y="7913814"/>
            <a:ext cx="8691969" cy="11158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stream-based,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sẵn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delimiters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tránh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 flipV="1">
            <a:off x="1028700" y="677518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7001274" y="571500"/>
            <a:ext cx="212036" cy="21203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74690" y="571500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571500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49351" y="571500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7" name="TextBox 22">
            <a:extLst>
              <a:ext uri="{FF2B5EF4-FFF2-40B4-BE49-F238E27FC236}">
                <a16:creationId xmlns:a16="http://schemas.microsoft.com/office/drawing/2014/main" id="{B99EF7EB-3F55-4A87-A61F-E0CE0D184507}"/>
              </a:ext>
            </a:extLst>
          </p:cNvPr>
          <p:cNvSpPr txBox="1"/>
          <p:nvPr/>
        </p:nvSpPr>
        <p:spPr>
          <a:xfrm>
            <a:off x="879057" y="1028700"/>
            <a:ext cx="16154633" cy="1417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1"/>
              </a:lnSpc>
            </a:pP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Thiết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kế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Server</a:t>
            </a:r>
            <a:endParaRPr lang="en-US" sz="88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38F90D34-E0EB-4877-ABB7-9FA99E2D9A0A}"/>
              </a:ext>
            </a:extLst>
          </p:cNvPr>
          <p:cNvSpPr/>
          <p:nvPr/>
        </p:nvSpPr>
        <p:spPr>
          <a:xfrm flipH="1">
            <a:off x="10155467" y="1585457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2">
            <a:extLst>
              <a:ext uri="{FF2B5EF4-FFF2-40B4-BE49-F238E27FC236}">
                <a16:creationId xmlns:a16="http://schemas.microsoft.com/office/drawing/2014/main" id="{937A474D-D28B-456C-A509-51256546C00E}"/>
              </a:ext>
            </a:extLst>
          </p:cNvPr>
          <p:cNvGrpSpPr/>
          <p:nvPr/>
        </p:nvGrpSpPr>
        <p:grpSpPr>
          <a:xfrm>
            <a:off x="1676400" y="2552700"/>
            <a:ext cx="14630399" cy="6917922"/>
            <a:chOff x="0" y="0"/>
            <a:chExt cx="1128678" cy="1695232"/>
          </a:xfrm>
        </p:grpSpPr>
        <p:sp>
          <p:nvSpPr>
            <p:cNvPr id="40" name="Freeform 3">
              <a:extLst>
                <a:ext uri="{FF2B5EF4-FFF2-40B4-BE49-F238E27FC236}">
                  <a16:creationId xmlns:a16="http://schemas.microsoft.com/office/drawing/2014/main" id="{E172C197-E3E7-4587-9A82-5B2E7CCA3965}"/>
                </a:ext>
              </a:extLst>
            </p:cNvPr>
            <p:cNvSpPr/>
            <p:nvPr/>
          </p:nvSpPr>
          <p:spPr>
            <a:xfrm>
              <a:off x="0" y="0"/>
              <a:ext cx="1128678" cy="1695232"/>
            </a:xfrm>
            <a:custGeom>
              <a:avLst/>
              <a:gdLst/>
              <a:ahLst/>
              <a:cxnLst/>
              <a:rect l="l" t="t" r="r" b="b"/>
              <a:pathLst>
                <a:path w="1128678" h="1695232">
                  <a:moveTo>
                    <a:pt x="36131" y="0"/>
                  </a:moveTo>
                  <a:lnTo>
                    <a:pt x="1092547" y="0"/>
                  </a:lnTo>
                  <a:cubicBezTo>
                    <a:pt x="1112502" y="0"/>
                    <a:pt x="1128678" y="16176"/>
                    <a:pt x="1128678" y="36131"/>
                  </a:cubicBezTo>
                  <a:lnTo>
                    <a:pt x="1128678" y="1659101"/>
                  </a:lnTo>
                  <a:cubicBezTo>
                    <a:pt x="1128678" y="1668683"/>
                    <a:pt x="1124872" y="1677873"/>
                    <a:pt x="1118096" y="1684649"/>
                  </a:cubicBezTo>
                  <a:cubicBezTo>
                    <a:pt x="1111320" y="1691425"/>
                    <a:pt x="1102130" y="1695232"/>
                    <a:pt x="1092547" y="1695232"/>
                  </a:cubicBezTo>
                  <a:lnTo>
                    <a:pt x="36131" y="1695232"/>
                  </a:lnTo>
                  <a:cubicBezTo>
                    <a:pt x="26549" y="1695232"/>
                    <a:pt x="17358" y="1691425"/>
                    <a:pt x="10583" y="1684649"/>
                  </a:cubicBezTo>
                  <a:cubicBezTo>
                    <a:pt x="3807" y="1677873"/>
                    <a:pt x="0" y="1668683"/>
                    <a:pt x="0" y="1659101"/>
                  </a:cubicBezTo>
                  <a:lnTo>
                    <a:pt x="0" y="36131"/>
                  </a:lnTo>
                  <a:cubicBezTo>
                    <a:pt x="0" y="26549"/>
                    <a:pt x="3807" y="17358"/>
                    <a:pt x="10583" y="10583"/>
                  </a:cubicBezTo>
                  <a:cubicBezTo>
                    <a:pt x="17358" y="3807"/>
                    <a:pt x="26549" y="0"/>
                    <a:pt x="36131" y="0"/>
                  </a:cubicBezTo>
                  <a:close/>
                </a:path>
              </a:pathLst>
            </a:custGeom>
            <a:ln w="9525" cap="sq">
              <a:solidFill>
                <a:srgbClr val="EFDDFF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41" name="TextBox 4">
              <a:extLst>
                <a:ext uri="{FF2B5EF4-FFF2-40B4-BE49-F238E27FC236}">
                  <a16:creationId xmlns:a16="http://schemas.microsoft.com/office/drawing/2014/main" id="{539831FA-4550-4F31-9C25-DA1EC571A131}"/>
                </a:ext>
              </a:extLst>
            </p:cNvPr>
            <p:cNvSpPr txBox="1"/>
            <p:nvPr/>
          </p:nvSpPr>
          <p:spPr>
            <a:xfrm>
              <a:off x="0" y="-38100"/>
              <a:ext cx="1128678" cy="1733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TextBox 31">
            <a:extLst>
              <a:ext uri="{FF2B5EF4-FFF2-40B4-BE49-F238E27FC236}">
                <a16:creationId xmlns:a16="http://schemas.microsoft.com/office/drawing/2014/main" id="{50A39908-E7BA-4485-9A0B-C45A4390D810}"/>
              </a:ext>
            </a:extLst>
          </p:cNvPr>
          <p:cNvSpPr txBox="1"/>
          <p:nvPr/>
        </p:nvSpPr>
        <p:spPr>
          <a:xfrm>
            <a:off x="2098373" y="2973889"/>
            <a:ext cx="13716000" cy="6586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3600" b="1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ServerSocket</a:t>
            </a:r>
            <a:r>
              <a:rPr lang="en-US" sz="3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(7000)</a:t>
            </a:r>
          </a:p>
          <a:p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Lắng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nghe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port 7000.</a:t>
            </a:r>
          </a:p>
          <a:p>
            <a:pPr marL="0" indent="0">
              <a:buNone/>
            </a:pPr>
            <a:endParaRPr lang="en-US" sz="3600" b="1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3600" b="1" dirty="0">
                <a:solidFill>
                  <a:schemeClr val="bg1"/>
                </a:solidFill>
                <a:latin typeface="Consolas" pitchFamily="34" charset="0"/>
              </a:rPr>
              <a:t>▸ </a:t>
            </a:r>
            <a:r>
              <a:rPr lang="en-US" sz="3600" b="1" dirty="0" err="1">
                <a:solidFill>
                  <a:schemeClr val="bg1"/>
                </a:solidFill>
                <a:latin typeface="Consolas" pitchFamily="34" charset="0"/>
              </a:rPr>
              <a:t>serverSocket.accept</a:t>
            </a:r>
            <a:r>
              <a:rPr lang="en-US" sz="3600" b="1" dirty="0">
                <a:solidFill>
                  <a:schemeClr val="bg1"/>
                </a:solidFill>
                <a:latin typeface="Consolas" pitchFamily="34" charset="0"/>
              </a:rPr>
              <a:t>()</a:t>
            </a:r>
          </a:p>
          <a:p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Chặn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chờ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client.</a:t>
            </a:r>
          </a:p>
          <a:p>
            <a:endParaRPr lang="en-US" sz="3600" b="1" dirty="0">
              <a:solidFill>
                <a:srgbClr val="00ACC1"/>
              </a:solidFill>
              <a:latin typeface="Consolas" pitchFamily="34" charset="0"/>
            </a:endParaRPr>
          </a:p>
          <a:p>
            <a:r>
              <a:rPr lang="en-US" sz="3600" b="1" dirty="0">
                <a:solidFill>
                  <a:schemeClr val="bg1"/>
                </a:solidFill>
                <a:latin typeface="Consolas" pitchFamily="34" charset="0"/>
              </a:rPr>
              <a:t>▸ new Thread()</a:t>
            </a:r>
          </a:p>
          <a:p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thread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 –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thread-per-client.</a:t>
            </a:r>
          </a:p>
          <a:p>
            <a:endParaRPr lang="en-US" sz="3600" dirty="0"/>
          </a:p>
          <a:p>
            <a:r>
              <a:rPr lang="en-US" sz="3600" b="1" dirty="0">
                <a:solidFill>
                  <a:schemeClr val="bg1"/>
                </a:solidFill>
                <a:latin typeface="Consolas" pitchFamily="34" charset="0"/>
              </a:rPr>
              <a:t>▸ </a:t>
            </a:r>
            <a:r>
              <a:rPr lang="en-US" sz="3600" b="1" dirty="0" err="1">
                <a:solidFill>
                  <a:schemeClr val="bg1"/>
                </a:solidFill>
                <a:latin typeface="Consolas" pitchFamily="34" charset="0"/>
              </a:rPr>
              <a:t>handleClient</a:t>
            </a:r>
            <a:r>
              <a:rPr lang="en-US" sz="3600" b="1" dirty="0">
                <a:solidFill>
                  <a:schemeClr val="bg1"/>
                </a:solidFill>
                <a:latin typeface="Consolas" pitchFamily="34" charset="0"/>
              </a:rPr>
              <a:t>(socket)</a:t>
            </a:r>
          </a:p>
          <a:p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thread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vòng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lặp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3600" dirty="0"/>
          </a:p>
        </p:txBody>
      </p:sp>
      <p:sp>
        <p:nvSpPr>
          <p:cNvPr id="44" name="Freeform 10">
            <a:extLst>
              <a:ext uri="{FF2B5EF4-FFF2-40B4-BE49-F238E27FC236}">
                <a16:creationId xmlns:a16="http://schemas.microsoft.com/office/drawing/2014/main" id="{22B4A586-01C8-41C4-A022-9FF8705C0EB5}"/>
              </a:ext>
            </a:extLst>
          </p:cNvPr>
          <p:cNvSpPr/>
          <p:nvPr/>
        </p:nvSpPr>
        <p:spPr>
          <a:xfrm flipH="1">
            <a:off x="16141836" y="1737547"/>
            <a:ext cx="2234928" cy="2234928"/>
          </a:xfrm>
          <a:custGeom>
            <a:avLst/>
            <a:gdLst/>
            <a:ahLst/>
            <a:cxnLst/>
            <a:rect l="l" t="t" r="r" b="b"/>
            <a:pathLst>
              <a:path w="2234928" h="2234928">
                <a:moveTo>
                  <a:pt x="2234928" y="0"/>
                </a:moveTo>
                <a:lnTo>
                  <a:pt x="0" y="0"/>
                </a:lnTo>
                <a:lnTo>
                  <a:pt x="0" y="2234928"/>
                </a:lnTo>
                <a:lnTo>
                  <a:pt x="2234928" y="2234928"/>
                </a:lnTo>
                <a:lnTo>
                  <a:pt x="223492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 flipV="1">
            <a:off x="1028700" y="677518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7001274" y="571500"/>
            <a:ext cx="212036" cy="21203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74690" y="571500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571500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49351" y="571500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7" name="TextBox 22">
            <a:extLst>
              <a:ext uri="{FF2B5EF4-FFF2-40B4-BE49-F238E27FC236}">
                <a16:creationId xmlns:a16="http://schemas.microsoft.com/office/drawing/2014/main" id="{B99EF7EB-3F55-4A87-A61F-E0CE0D184507}"/>
              </a:ext>
            </a:extLst>
          </p:cNvPr>
          <p:cNvSpPr txBox="1"/>
          <p:nvPr/>
        </p:nvSpPr>
        <p:spPr>
          <a:xfrm>
            <a:off x="879057" y="952500"/>
            <a:ext cx="16154633" cy="1417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1"/>
              </a:lnSpc>
            </a:pP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Xử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lý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đa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luồng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endParaRPr lang="en-US" sz="88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38F90D34-E0EB-4877-ABB7-9FA99E2D9A0A}"/>
              </a:ext>
            </a:extLst>
          </p:cNvPr>
          <p:cNvSpPr/>
          <p:nvPr/>
        </p:nvSpPr>
        <p:spPr>
          <a:xfrm flipH="1">
            <a:off x="9877096" y="1585458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B00CC1C3-AE87-4592-9967-1D3EE2769579}"/>
              </a:ext>
            </a:extLst>
          </p:cNvPr>
          <p:cNvSpPr/>
          <p:nvPr/>
        </p:nvSpPr>
        <p:spPr>
          <a:xfrm>
            <a:off x="1268986" y="2848170"/>
            <a:ext cx="3886200" cy="4724400"/>
          </a:xfrm>
          <a:prstGeom prst="rect">
            <a:avLst/>
          </a:prstGeom>
          <a:solidFill>
            <a:srgbClr val="112B47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97B2B114-0ADD-42DA-830E-D0335958998D}"/>
              </a:ext>
            </a:extLst>
          </p:cNvPr>
          <p:cNvSpPr/>
          <p:nvPr/>
        </p:nvSpPr>
        <p:spPr>
          <a:xfrm>
            <a:off x="2297686" y="3312991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accept()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wait...</a:t>
            </a:r>
            <a:endParaRPr lang="en-US" sz="28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44C6CFFC-A4E0-41D5-BFEA-DF6316CB4A9F}"/>
              </a:ext>
            </a:extLst>
          </p:cNvPr>
          <p:cNvSpPr/>
          <p:nvPr/>
        </p:nvSpPr>
        <p:spPr>
          <a:xfrm>
            <a:off x="1726186" y="5240851"/>
            <a:ext cx="2971800" cy="1022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SERVER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Main Thread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C5A49BA6-8CB7-4D6B-954E-DA8B244A579B}"/>
              </a:ext>
            </a:extLst>
          </p:cNvPr>
          <p:cNvSpPr/>
          <p:nvPr/>
        </p:nvSpPr>
        <p:spPr>
          <a:xfrm>
            <a:off x="5155186" y="3443877"/>
            <a:ext cx="2209800" cy="2"/>
          </a:xfrm>
          <a:prstGeom prst="line">
            <a:avLst/>
          </a:prstGeom>
          <a:noFill/>
          <a:ln w="76200">
            <a:solidFill>
              <a:srgbClr val="1565C0"/>
            </a:solidFill>
            <a:prstDash val="solid"/>
          </a:ln>
        </p:spPr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99E87DC1-1C46-4A98-94AB-AEA0A772F03E}"/>
              </a:ext>
            </a:extLst>
          </p:cNvPr>
          <p:cNvSpPr/>
          <p:nvPr/>
        </p:nvSpPr>
        <p:spPr>
          <a:xfrm>
            <a:off x="6831586" y="2671210"/>
            <a:ext cx="4914174" cy="1463041"/>
          </a:xfrm>
          <a:prstGeom prst="rect">
            <a:avLst/>
          </a:prstGeom>
          <a:solidFill>
            <a:srgbClr val="112B4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34C00068-9180-4D20-BF41-17CC3346D1D2}"/>
              </a:ext>
            </a:extLst>
          </p:cNvPr>
          <p:cNvSpPr/>
          <p:nvPr/>
        </p:nvSpPr>
        <p:spPr>
          <a:xfrm>
            <a:off x="6886302" y="2727974"/>
            <a:ext cx="4289080" cy="640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ACC1"/>
                </a:solidFill>
                <a:latin typeface="Consolas" pitchFamily="34" charset="0"/>
              </a:rPr>
              <a:t>Thread: Client 1</a:t>
            </a: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5B1D9814-F44A-4397-8267-92AA5523AB39}"/>
              </a:ext>
            </a:extLst>
          </p:cNvPr>
          <p:cNvSpPr/>
          <p:nvPr/>
        </p:nvSpPr>
        <p:spPr>
          <a:xfrm>
            <a:off x="6846068" y="3471313"/>
            <a:ext cx="3241424" cy="518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handleClient()</a:t>
            </a:r>
            <a:endParaRPr lang="en-US" sz="2800" dirty="0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EC124FBF-8D51-4663-8A0A-97C0211EA32A}"/>
              </a:ext>
            </a:extLst>
          </p:cNvPr>
          <p:cNvSpPr/>
          <p:nvPr/>
        </p:nvSpPr>
        <p:spPr>
          <a:xfrm>
            <a:off x="13212973" y="2671210"/>
            <a:ext cx="3696426" cy="1409701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73F37679-A026-4AF9-9901-5462C62490F5}"/>
              </a:ext>
            </a:extLst>
          </p:cNvPr>
          <p:cNvSpPr/>
          <p:nvPr/>
        </p:nvSpPr>
        <p:spPr>
          <a:xfrm>
            <a:off x="14146785" y="3037629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OS Exec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56BE3DA5-F850-429F-9831-124D632309AF}"/>
              </a:ext>
            </a:extLst>
          </p:cNvPr>
          <p:cNvSpPr/>
          <p:nvPr/>
        </p:nvSpPr>
        <p:spPr>
          <a:xfrm flipV="1">
            <a:off x="5173329" y="5085598"/>
            <a:ext cx="2206139" cy="27218"/>
          </a:xfrm>
          <a:prstGeom prst="line">
            <a:avLst/>
          </a:prstGeom>
          <a:noFill/>
          <a:ln w="76200">
            <a:solidFill>
              <a:srgbClr val="7C4DFF"/>
            </a:solidFill>
            <a:prstDash val="solid"/>
          </a:ln>
        </p:spPr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CAAA39C3-867F-479C-B938-49CFB58439EB}"/>
              </a:ext>
            </a:extLst>
          </p:cNvPr>
          <p:cNvSpPr/>
          <p:nvPr/>
        </p:nvSpPr>
        <p:spPr>
          <a:xfrm>
            <a:off x="13212973" y="4403968"/>
            <a:ext cx="3696425" cy="1417696"/>
          </a:xfrm>
          <a:prstGeom prst="rect">
            <a:avLst/>
          </a:prstGeom>
          <a:solidFill>
            <a:srgbClr val="7C4DFF">
              <a:alpha val="2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5CCAE88B-AE33-46A3-8077-682333F973E9}"/>
              </a:ext>
            </a:extLst>
          </p:cNvPr>
          <p:cNvSpPr/>
          <p:nvPr/>
        </p:nvSpPr>
        <p:spPr>
          <a:xfrm>
            <a:off x="14146785" y="4778761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Exec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6506E8EB-6191-4CBF-AD78-5E137F510959}"/>
              </a:ext>
            </a:extLst>
          </p:cNvPr>
          <p:cNvSpPr/>
          <p:nvPr/>
        </p:nvSpPr>
        <p:spPr>
          <a:xfrm>
            <a:off x="6879012" y="4347610"/>
            <a:ext cx="4914174" cy="1463041"/>
          </a:xfrm>
          <a:prstGeom prst="rect">
            <a:avLst/>
          </a:prstGeom>
          <a:solidFill>
            <a:srgbClr val="112B4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4CCB5A20-9681-499B-A599-A7B7E02BE3BD}"/>
              </a:ext>
            </a:extLst>
          </p:cNvPr>
          <p:cNvSpPr/>
          <p:nvPr/>
        </p:nvSpPr>
        <p:spPr>
          <a:xfrm>
            <a:off x="6933728" y="4404374"/>
            <a:ext cx="4289080" cy="640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B5CF6"/>
                </a:solidFill>
                <a:latin typeface="Consolas" pitchFamily="34" charset="0"/>
              </a:rPr>
              <a:t>Thread: Client 2</a:t>
            </a: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6D7451D7-7065-4382-BAA7-EF7FA5F4FDF5}"/>
              </a:ext>
            </a:extLst>
          </p:cNvPr>
          <p:cNvSpPr/>
          <p:nvPr/>
        </p:nvSpPr>
        <p:spPr>
          <a:xfrm>
            <a:off x="6893494" y="5147713"/>
            <a:ext cx="3241424" cy="518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handleClient()</a:t>
            </a:r>
            <a:endParaRPr lang="en-US" sz="2800" dirty="0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D845DDF7-306F-4C28-8F61-29A156AF2767}"/>
              </a:ext>
            </a:extLst>
          </p:cNvPr>
          <p:cNvSpPr/>
          <p:nvPr/>
        </p:nvSpPr>
        <p:spPr>
          <a:xfrm flipV="1">
            <a:off x="11745760" y="3320810"/>
            <a:ext cx="1467213" cy="47239"/>
          </a:xfrm>
          <a:prstGeom prst="line">
            <a:avLst/>
          </a:prstGeom>
          <a:noFill/>
          <a:ln w="76200">
            <a:solidFill>
              <a:srgbClr val="1565C0"/>
            </a:solidFill>
            <a:prstDash val="solid"/>
          </a:ln>
        </p:spPr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DB7E4917-5A49-4083-8C15-EC4DB1A89154}"/>
              </a:ext>
            </a:extLst>
          </p:cNvPr>
          <p:cNvSpPr/>
          <p:nvPr/>
        </p:nvSpPr>
        <p:spPr>
          <a:xfrm flipV="1">
            <a:off x="11793187" y="5112815"/>
            <a:ext cx="1419786" cy="20017"/>
          </a:xfrm>
          <a:prstGeom prst="line">
            <a:avLst/>
          </a:prstGeom>
          <a:noFill/>
          <a:ln w="76200">
            <a:solidFill>
              <a:srgbClr val="7C4DFF"/>
            </a:solidFill>
            <a:prstDash val="solid"/>
          </a:ln>
        </p:spPr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933DFFD2-6D36-4B26-BE1E-E0C14522E4A2}"/>
              </a:ext>
            </a:extLst>
          </p:cNvPr>
          <p:cNvSpPr/>
          <p:nvPr/>
        </p:nvSpPr>
        <p:spPr>
          <a:xfrm>
            <a:off x="1048578" y="8054827"/>
            <a:ext cx="14410083" cy="1739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block main thread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nặng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client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</a:t>
            </a:r>
          </a:p>
        </p:txBody>
      </p:sp>
      <p:sp>
        <p:nvSpPr>
          <p:cNvPr id="54" name="Freeform 10">
            <a:extLst>
              <a:ext uri="{FF2B5EF4-FFF2-40B4-BE49-F238E27FC236}">
                <a16:creationId xmlns:a16="http://schemas.microsoft.com/office/drawing/2014/main" id="{6BCD6233-D845-46D9-B4A5-5CB5F8BE6E63}"/>
              </a:ext>
            </a:extLst>
          </p:cNvPr>
          <p:cNvSpPr/>
          <p:nvPr/>
        </p:nvSpPr>
        <p:spPr>
          <a:xfrm flipH="1">
            <a:off x="16037904" y="8052072"/>
            <a:ext cx="2234928" cy="2234928"/>
          </a:xfrm>
          <a:custGeom>
            <a:avLst/>
            <a:gdLst/>
            <a:ahLst/>
            <a:cxnLst/>
            <a:rect l="l" t="t" r="r" b="b"/>
            <a:pathLst>
              <a:path w="2234928" h="2234928">
                <a:moveTo>
                  <a:pt x="2234928" y="0"/>
                </a:moveTo>
                <a:lnTo>
                  <a:pt x="0" y="0"/>
                </a:lnTo>
                <a:lnTo>
                  <a:pt x="0" y="2234928"/>
                </a:lnTo>
                <a:lnTo>
                  <a:pt x="2234928" y="2234928"/>
                </a:lnTo>
                <a:lnTo>
                  <a:pt x="223492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737FF405-EEEA-46DB-B5D5-325FD2AC16AF}"/>
              </a:ext>
            </a:extLst>
          </p:cNvPr>
          <p:cNvSpPr/>
          <p:nvPr/>
        </p:nvSpPr>
        <p:spPr>
          <a:xfrm flipV="1">
            <a:off x="5173329" y="6922034"/>
            <a:ext cx="2206139" cy="27218"/>
          </a:xfrm>
          <a:prstGeom prst="line">
            <a:avLst/>
          </a:prstGeom>
          <a:noFill/>
          <a:ln w="76200">
            <a:solidFill>
              <a:srgbClr val="10B981"/>
            </a:solidFill>
            <a:prstDash val="solid"/>
          </a:ln>
        </p:spPr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6BCF346E-FF57-496D-9F90-3B9E56FEF93C}"/>
              </a:ext>
            </a:extLst>
          </p:cNvPr>
          <p:cNvSpPr/>
          <p:nvPr/>
        </p:nvSpPr>
        <p:spPr>
          <a:xfrm>
            <a:off x="13212973" y="6240404"/>
            <a:ext cx="3696425" cy="1417696"/>
          </a:xfrm>
          <a:prstGeom prst="rect">
            <a:avLst/>
          </a:prstGeom>
          <a:solidFill>
            <a:srgbClr val="7C4DFF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502DFB31-0AD8-42E5-AC91-8A45AF112910}"/>
              </a:ext>
            </a:extLst>
          </p:cNvPr>
          <p:cNvSpPr/>
          <p:nvPr/>
        </p:nvSpPr>
        <p:spPr>
          <a:xfrm>
            <a:off x="14146785" y="6615197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Exec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9DD743F5-5EF6-44E3-B1A3-65D09A690CFD}"/>
              </a:ext>
            </a:extLst>
          </p:cNvPr>
          <p:cNvSpPr/>
          <p:nvPr/>
        </p:nvSpPr>
        <p:spPr>
          <a:xfrm>
            <a:off x="6879012" y="6184046"/>
            <a:ext cx="4914174" cy="1463041"/>
          </a:xfrm>
          <a:prstGeom prst="rect">
            <a:avLst/>
          </a:prstGeom>
          <a:solidFill>
            <a:srgbClr val="112B4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6AB57AAC-978C-4323-A5E0-1D865FC09B20}"/>
              </a:ext>
            </a:extLst>
          </p:cNvPr>
          <p:cNvSpPr/>
          <p:nvPr/>
        </p:nvSpPr>
        <p:spPr>
          <a:xfrm>
            <a:off x="6933728" y="6240810"/>
            <a:ext cx="4289080" cy="640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0B981"/>
                </a:solidFill>
                <a:latin typeface="Consolas" pitchFamily="34" charset="0"/>
              </a:rPr>
              <a:t>Thread: Client 3</a:t>
            </a: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6C67CB0B-9F18-4A53-B4E6-80A2D12F9ABA}"/>
              </a:ext>
            </a:extLst>
          </p:cNvPr>
          <p:cNvSpPr/>
          <p:nvPr/>
        </p:nvSpPr>
        <p:spPr>
          <a:xfrm>
            <a:off x="6893494" y="6984149"/>
            <a:ext cx="3241424" cy="518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handleClient()</a:t>
            </a:r>
            <a:endParaRPr lang="en-US" sz="280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9F7FC8CB-CDE0-41C0-ABD5-DCEABAA842DE}"/>
              </a:ext>
            </a:extLst>
          </p:cNvPr>
          <p:cNvSpPr/>
          <p:nvPr/>
        </p:nvSpPr>
        <p:spPr>
          <a:xfrm flipV="1">
            <a:off x="11793187" y="6949251"/>
            <a:ext cx="1419786" cy="20017"/>
          </a:xfrm>
          <a:prstGeom prst="line">
            <a:avLst/>
          </a:prstGeom>
          <a:noFill/>
          <a:ln w="76200">
            <a:solidFill>
              <a:srgbClr val="10B98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7790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8">
            <a:extLst>
              <a:ext uri="{FF2B5EF4-FFF2-40B4-BE49-F238E27FC236}">
                <a16:creationId xmlns:a16="http://schemas.microsoft.com/office/drawing/2014/main" id="{F3B35994-220F-49AB-B0C0-4AE0DD34D703}"/>
              </a:ext>
            </a:extLst>
          </p:cNvPr>
          <p:cNvSpPr/>
          <p:nvPr/>
        </p:nvSpPr>
        <p:spPr>
          <a:xfrm rot="5400000" flipV="1">
            <a:off x="-113058" y="3086101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0" y="2495550"/>
                </a:moveTo>
                <a:lnTo>
                  <a:pt x="2495550" y="2495550"/>
                </a:lnTo>
                <a:lnTo>
                  <a:pt x="2495550" y="0"/>
                </a:lnTo>
                <a:lnTo>
                  <a:pt x="0" y="0"/>
                </a:lnTo>
                <a:lnTo>
                  <a:pt x="0" y="24955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964704" y="8005410"/>
            <a:ext cx="2281590" cy="2281590"/>
          </a:xfrm>
          <a:custGeom>
            <a:avLst/>
            <a:gdLst/>
            <a:ahLst/>
            <a:cxnLst/>
            <a:rect l="l" t="t" r="r" b="b"/>
            <a:pathLst>
              <a:path w="2281590" h="2281590">
                <a:moveTo>
                  <a:pt x="2281590" y="0"/>
                </a:moveTo>
                <a:lnTo>
                  <a:pt x="0" y="0"/>
                </a:lnTo>
                <a:lnTo>
                  <a:pt x="0" y="2281590"/>
                </a:lnTo>
                <a:lnTo>
                  <a:pt x="2281590" y="2281590"/>
                </a:lnTo>
                <a:lnTo>
                  <a:pt x="2281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617882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001274" y="511864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511864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511864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511864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9F144FDD-3D32-47E1-B3B5-C1B73A2E754B}"/>
              </a:ext>
            </a:extLst>
          </p:cNvPr>
          <p:cNvSpPr txBox="1"/>
          <p:nvPr/>
        </p:nvSpPr>
        <p:spPr>
          <a:xfrm>
            <a:off x="894718" y="815560"/>
            <a:ext cx="16154633" cy="1356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1"/>
              </a:lnSpc>
            </a:pPr>
            <a:r>
              <a:rPr lang="sv-SE" sz="8000" dirty="0">
                <a:solidFill>
                  <a:srgbClr val="FFFF66"/>
                </a:solidFill>
                <a:latin typeface="Josefin Sans Bold" pitchFamily="2" charset="0"/>
              </a:rPr>
              <a:t>Xử lý lệnh (Command Handling)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graphicFrame>
        <p:nvGraphicFramePr>
          <p:cNvPr id="41" name="Table 0">
            <a:extLst>
              <a:ext uri="{FF2B5EF4-FFF2-40B4-BE49-F238E27FC236}">
                <a16:creationId xmlns:a16="http://schemas.microsoft.com/office/drawing/2014/main" id="{B80CF4EF-A825-4303-9018-EAFE670D8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79493"/>
              </p:ext>
            </p:extLst>
          </p:nvPr>
        </p:nvGraphicFramePr>
        <p:xfrm>
          <a:off x="609600" y="2347453"/>
          <a:ext cx="8978141" cy="7139447"/>
        </p:xfrm>
        <a:graphic>
          <a:graphicData uri="http://schemas.openxmlformats.org/drawingml/2006/table">
            <a:tbl>
              <a:tblPr/>
              <a:tblGrid>
                <a:gridCol w="207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0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30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Lệnh</a:t>
                      </a:r>
                      <a:endParaRPr lang="en-US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 động</a:t>
                      </a:r>
                      <a:endParaRPr lang="en-US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90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FF6D00"/>
                          </a:solidFill>
                          <a:latin typeface="Arial" panose="020B0604020202020204" pitchFamily="34" charset="0"/>
                          <a:ea typeface="Consolas" pitchFamily="34" charset="-122"/>
                          <a:cs typeface="Arial" panose="020B0604020202020204" pitchFamily="34" charset="0"/>
                        </a:rPr>
                        <a:t>exit</a:t>
                      </a:r>
                      <a:endParaRPr lang="en-US" sz="2600" dirty="0">
                        <a:latin typeface="Arial" panose="020B0604020202020204" pitchFamily="34" charset="0"/>
                        <a:ea typeface="Consolas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E8F4F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Đóng kết nối với client, giải phóng thread.</a:t>
                      </a:r>
                      <a:endParaRPr lang="en-US" sz="2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90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00ACC1"/>
                          </a:solidFill>
                          <a:latin typeface="Arial" panose="020B0604020202020204" pitchFamily="34" charset="0"/>
                          <a:ea typeface="Consolas" pitchFamily="34" charset="-122"/>
                          <a:cs typeface="Arial" panose="020B0604020202020204" pitchFamily="34" charset="0"/>
                        </a:rPr>
                        <a:t>pwd</a:t>
                      </a:r>
                      <a:endParaRPr lang="en-US" sz="2600" dirty="0">
                        <a:latin typeface="Arial" panose="020B0604020202020204" pitchFamily="34" charset="0"/>
                        <a:ea typeface="Consolas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E8F4F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Trả về đường dẫn thư mục hiện tại (currentDirectory).</a:t>
                      </a:r>
                      <a:endParaRPr lang="en-US" sz="2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90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1565C0"/>
                          </a:solidFill>
                          <a:latin typeface="Arial" panose="020B0604020202020204" pitchFamily="34" charset="0"/>
                          <a:ea typeface="Consolas" pitchFamily="34" charset="-122"/>
                          <a:cs typeface="Arial" panose="020B0604020202020204" pitchFamily="34" charset="0"/>
                        </a:rPr>
                        <a:t>cd &lt;path&gt;</a:t>
                      </a:r>
                      <a:endParaRPr lang="en-US" sz="2600" dirty="0">
                        <a:latin typeface="Arial" panose="020B0604020202020204" pitchFamily="34" charset="0"/>
                        <a:ea typeface="Consolas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E8F4F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Thay đổi currentDirectory (tương </a:t>
                      </a:r>
                      <a:r>
                        <a:rPr lang="en-US" sz="2600" dirty="0" err="1">
                          <a:solidFill>
                            <a:srgbClr val="E8F4F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đối</a:t>
                      </a:r>
                      <a:r>
                        <a:rPr lang="en-US" sz="2600" dirty="0">
                          <a:solidFill>
                            <a:srgbClr val="E8F4F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/ </a:t>
                      </a:r>
                      <a:r>
                        <a:rPr lang="en-US" sz="2600" dirty="0" err="1">
                          <a:solidFill>
                            <a:srgbClr val="E8F4F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tuyệt</a:t>
                      </a:r>
                      <a:r>
                        <a:rPr lang="en-US" sz="2600" dirty="0">
                          <a:solidFill>
                            <a:srgbClr val="E8F4F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 đối).</a:t>
                      </a:r>
                      <a:endParaRPr lang="en-US" sz="2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90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00C853"/>
                          </a:solidFill>
                          <a:latin typeface="Arial" panose="020B0604020202020204" pitchFamily="34" charset="0"/>
                          <a:ea typeface="Consolas" pitchFamily="34" charset="-122"/>
                          <a:cs typeface="Arial" panose="020B0604020202020204" pitchFamily="34" charset="0"/>
                        </a:rPr>
                        <a:t>&lt;khác&gt;</a:t>
                      </a:r>
                      <a:endParaRPr lang="en-US" sz="2600" dirty="0">
                        <a:latin typeface="Arial" panose="020B0604020202020204" pitchFamily="34" charset="0"/>
                        <a:ea typeface="Consolas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E8F4F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Chuyển vào ProcessBuilder → OS thực thi → trả kết quả.</a:t>
                      </a:r>
                      <a:endParaRPr lang="en-US" sz="2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Shape 4">
            <a:extLst>
              <a:ext uri="{FF2B5EF4-FFF2-40B4-BE49-F238E27FC236}">
                <a16:creationId xmlns:a16="http://schemas.microsoft.com/office/drawing/2014/main" id="{1BED280F-761C-4232-B28A-97DC3E918C16}"/>
              </a:ext>
            </a:extLst>
          </p:cNvPr>
          <p:cNvSpPr/>
          <p:nvPr/>
        </p:nvSpPr>
        <p:spPr>
          <a:xfrm>
            <a:off x="9982201" y="2310157"/>
            <a:ext cx="7918142" cy="7329143"/>
          </a:xfrm>
          <a:prstGeom prst="rect">
            <a:avLst/>
          </a:prstGeom>
          <a:solidFill>
            <a:srgbClr val="1A2A3A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084E8D30-F38E-405B-9F58-7F7D311FDE7F}"/>
              </a:ext>
            </a:extLst>
          </p:cNvPr>
          <p:cNvSpPr/>
          <p:nvPr/>
        </p:nvSpPr>
        <p:spPr>
          <a:xfrm>
            <a:off x="10119275" y="2602223"/>
            <a:ext cx="7384742" cy="6779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Trong handleClient():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(command.equalsIgnoreCase("exit"))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sendResult(writer, "Da thoat.");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break;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(command.equalsIgnoreCase("pwd"))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sendResult(writer, currentDir.toString());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continue;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(command.startsWith("cd "))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xử lý đổi thư mục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continue;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Còn lại → executeCommand()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result = executeCommand(cmd, dir);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sendResult(writer, result);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28">
            <a:extLst>
              <a:ext uri="{FF2B5EF4-FFF2-40B4-BE49-F238E27FC236}">
                <a16:creationId xmlns:a16="http://schemas.microsoft.com/office/drawing/2014/main" id="{B2316248-98FC-4756-A7BF-C42DD3547FAA}"/>
              </a:ext>
            </a:extLst>
          </p:cNvPr>
          <p:cNvSpPr/>
          <p:nvPr/>
        </p:nvSpPr>
        <p:spPr>
          <a:xfrm rot="10800000" flipV="1">
            <a:off x="15785790" y="1168399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0" y="2495550"/>
                </a:moveTo>
                <a:lnTo>
                  <a:pt x="2495550" y="2495550"/>
                </a:lnTo>
                <a:lnTo>
                  <a:pt x="2495550" y="0"/>
                </a:lnTo>
                <a:lnTo>
                  <a:pt x="0" y="0"/>
                </a:lnTo>
                <a:lnTo>
                  <a:pt x="0" y="24955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964704" y="8005410"/>
            <a:ext cx="2281590" cy="2281590"/>
          </a:xfrm>
          <a:custGeom>
            <a:avLst/>
            <a:gdLst/>
            <a:ahLst/>
            <a:cxnLst/>
            <a:rect l="l" t="t" r="r" b="b"/>
            <a:pathLst>
              <a:path w="2281590" h="2281590">
                <a:moveTo>
                  <a:pt x="2281590" y="0"/>
                </a:moveTo>
                <a:lnTo>
                  <a:pt x="0" y="0"/>
                </a:lnTo>
                <a:lnTo>
                  <a:pt x="0" y="2281590"/>
                </a:lnTo>
                <a:lnTo>
                  <a:pt x="2281590" y="2281590"/>
                </a:lnTo>
                <a:lnTo>
                  <a:pt x="2281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617882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001274" y="511864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511864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511864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511864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9F144FDD-3D32-47E1-B3B5-C1B73A2E754B}"/>
              </a:ext>
            </a:extLst>
          </p:cNvPr>
          <p:cNvSpPr txBox="1"/>
          <p:nvPr/>
        </p:nvSpPr>
        <p:spPr>
          <a:xfrm>
            <a:off x="894718" y="815560"/>
            <a:ext cx="16154633" cy="1356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1"/>
              </a:lnSpc>
            </a:pPr>
            <a:r>
              <a:rPr lang="sv-SE" sz="8000" dirty="0">
                <a:solidFill>
                  <a:srgbClr val="FFFF66"/>
                </a:solidFill>
                <a:latin typeface="Josefin Sans Bold" pitchFamily="2" charset="0"/>
              </a:rPr>
              <a:t>Thực thi lệnh hệ điều hành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1BED280F-761C-4232-B28A-97DC3E918C16}"/>
              </a:ext>
            </a:extLst>
          </p:cNvPr>
          <p:cNvSpPr/>
          <p:nvPr/>
        </p:nvSpPr>
        <p:spPr>
          <a:xfrm>
            <a:off x="9982201" y="2310157"/>
            <a:ext cx="7918142" cy="7329143"/>
          </a:xfrm>
          <a:prstGeom prst="rect">
            <a:avLst/>
          </a:prstGeom>
          <a:solidFill>
            <a:srgbClr val="1A2A3A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084E8D30-F38E-405B-9F58-7F7D311FDE7F}"/>
              </a:ext>
            </a:extLst>
          </p:cNvPr>
          <p:cNvSpPr/>
          <p:nvPr/>
        </p:nvSpPr>
        <p:spPr>
          <a:xfrm>
            <a:off x="10119275" y="2602223"/>
            <a:ext cx="7384742" cy="6779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String </a:t>
            </a:r>
            <a:r>
              <a:rPr lang="en-US" sz="2400" dirty="0" err="1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executeCommand</a:t>
            </a: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command, Path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ProcessBuilder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pb;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isWindows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pb = new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ProcessBuilder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"/c", command);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pb = new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ProcessBuilder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"bash", "-lc", command);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pb.directory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dir.toFile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pb.redirectErrorStream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(true);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 proc =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pb.start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đọc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output...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exit =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proc.waitFor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4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109959D4-A645-4CC9-9B73-52B1A48D74DF}"/>
              </a:ext>
            </a:extLst>
          </p:cNvPr>
          <p:cNvSpPr/>
          <p:nvPr/>
        </p:nvSpPr>
        <p:spPr>
          <a:xfrm>
            <a:off x="1187187" y="2601337"/>
            <a:ext cx="103490" cy="13561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A36E52E-B512-493E-9EE7-E648FCC8B7EA}"/>
              </a:ext>
            </a:extLst>
          </p:cNvPr>
          <p:cNvSpPr/>
          <p:nvPr/>
        </p:nvSpPr>
        <p:spPr>
          <a:xfrm>
            <a:off x="1427751" y="2747996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Cross-platform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F40EDFE0-B614-4DB8-940F-841ED43B20E3}"/>
              </a:ext>
            </a:extLst>
          </p:cNvPr>
          <p:cNvSpPr/>
          <p:nvPr/>
        </p:nvSpPr>
        <p:spPr>
          <a:xfrm>
            <a:off x="1381172" y="3259182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Tự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động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phát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hiện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Windows/Linux qua os.name.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4D9BC111-22C3-4D73-B710-176D73F3BC0A}"/>
              </a:ext>
            </a:extLst>
          </p:cNvPr>
          <p:cNvSpPr/>
          <p:nvPr/>
        </p:nvSpPr>
        <p:spPr>
          <a:xfrm>
            <a:off x="1189433" y="4466005"/>
            <a:ext cx="103490" cy="13561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3A6C6CDB-8887-41E1-975E-A42F74B6E341}"/>
              </a:ext>
            </a:extLst>
          </p:cNvPr>
          <p:cNvSpPr/>
          <p:nvPr/>
        </p:nvSpPr>
        <p:spPr>
          <a:xfrm>
            <a:off x="1429997" y="4612664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Redirect stderr</a:t>
            </a: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0001532D-99AF-4142-80DA-5E9FD7D7A017}"/>
              </a:ext>
            </a:extLst>
          </p:cNvPr>
          <p:cNvSpPr/>
          <p:nvPr/>
        </p:nvSpPr>
        <p:spPr>
          <a:xfrm>
            <a:off x="1383418" y="5123850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redirectErrorStream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(true)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gộp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stderr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vào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stdout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6AF99C5E-5E03-4597-85AD-8149E7D51805}"/>
              </a:ext>
            </a:extLst>
          </p:cNvPr>
          <p:cNvSpPr/>
          <p:nvPr/>
        </p:nvSpPr>
        <p:spPr>
          <a:xfrm>
            <a:off x="1189433" y="6330673"/>
            <a:ext cx="103490" cy="13561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3D3A75FA-8940-4F11-9B20-658F5975186B}"/>
              </a:ext>
            </a:extLst>
          </p:cNvPr>
          <p:cNvSpPr/>
          <p:nvPr/>
        </p:nvSpPr>
        <p:spPr>
          <a:xfrm>
            <a:off x="1429997" y="6477332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Working directory</a:t>
            </a: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2A025A7D-88B3-4296-BE10-C0EF23037218}"/>
              </a:ext>
            </a:extLst>
          </p:cNvPr>
          <p:cNvSpPr/>
          <p:nvPr/>
        </p:nvSpPr>
        <p:spPr>
          <a:xfrm>
            <a:off x="1383418" y="6988518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pb.directory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() set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thư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mục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làm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việc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cho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process.</a:t>
            </a: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9EC5E127-D411-4239-808E-5067F84EEE7D}"/>
              </a:ext>
            </a:extLst>
          </p:cNvPr>
          <p:cNvSpPr/>
          <p:nvPr/>
        </p:nvSpPr>
        <p:spPr>
          <a:xfrm>
            <a:off x="1211997" y="8195341"/>
            <a:ext cx="103490" cy="13561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815A74AB-EEA8-46E1-991D-4DB263436611}"/>
              </a:ext>
            </a:extLst>
          </p:cNvPr>
          <p:cNvSpPr/>
          <p:nvPr/>
        </p:nvSpPr>
        <p:spPr>
          <a:xfrm>
            <a:off x="1452561" y="8342000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Exit code</a:t>
            </a: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CA2FDA2C-FB84-4227-A6AE-909E35DD4FAD}"/>
              </a:ext>
            </a:extLst>
          </p:cNvPr>
          <p:cNvSpPr/>
          <p:nvPr/>
        </p:nvSpPr>
        <p:spPr>
          <a:xfrm>
            <a:off x="1405982" y="8853186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process.waitFor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()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lấy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exit code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trả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về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cho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client.</a:t>
            </a:r>
          </a:p>
        </p:txBody>
      </p:sp>
      <p:sp>
        <p:nvSpPr>
          <p:cNvPr id="36" name="Freeform 23">
            <a:extLst>
              <a:ext uri="{FF2B5EF4-FFF2-40B4-BE49-F238E27FC236}">
                <a16:creationId xmlns:a16="http://schemas.microsoft.com/office/drawing/2014/main" id="{9A87375C-8BFE-415A-8484-CBD1C91760D5}"/>
              </a:ext>
            </a:extLst>
          </p:cNvPr>
          <p:cNvSpPr/>
          <p:nvPr/>
        </p:nvSpPr>
        <p:spPr>
          <a:xfrm flipH="1">
            <a:off x="14152840" y="1455462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09931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flipH="1">
            <a:off x="15964704" y="8005410"/>
            <a:ext cx="2281590" cy="2281590"/>
          </a:xfrm>
          <a:custGeom>
            <a:avLst/>
            <a:gdLst/>
            <a:ahLst/>
            <a:cxnLst/>
            <a:rect l="l" t="t" r="r" b="b"/>
            <a:pathLst>
              <a:path w="2281590" h="2281590">
                <a:moveTo>
                  <a:pt x="2281590" y="0"/>
                </a:moveTo>
                <a:lnTo>
                  <a:pt x="0" y="0"/>
                </a:lnTo>
                <a:lnTo>
                  <a:pt x="0" y="2281590"/>
                </a:lnTo>
                <a:lnTo>
                  <a:pt x="2281590" y="2281590"/>
                </a:lnTo>
                <a:lnTo>
                  <a:pt x="2281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617882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001274" y="511864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511864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511864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511864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9F144FDD-3D32-47E1-B3B5-C1B73A2E754B}"/>
              </a:ext>
            </a:extLst>
          </p:cNvPr>
          <p:cNvSpPr txBox="1"/>
          <p:nvPr/>
        </p:nvSpPr>
        <p:spPr>
          <a:xfrm>
            <a:off x="894718" y="815560"/>
            <a:ext cx="16154633" cy="1356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1"/>
              </a:lnSpc>
            </a:pPr>
            <a:r>
              <a:rPr lang="sv-SE" sz="8000" dirty="0">
                <a:solidFill>
                  <a:srgbClr val="FFFF66"/>
                </a:solidFill>
                <a:latin typeface="Josefin Sans Bold" pitchFamily="2" charset="0"/>
              </a:rPr>
              <a:t>Xử lý thư mục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1BED280F-761C-4232-B28A-97DC3E918C16}"/>
              </a:ext>
            </a:extLst>
          </p:cNvPr>
          <p:cNvSpPr/>
          <p:nvPr/>
        </p:nvSpPr>
        <p:spPr>
          <a:xfrm>
            <a:off x="9982201" y="2310157"/>
            <a:ext cx="7918142" cy="7329143"/>
          </a:xfrm>
          <a:prstGeom prst="rect">
            <a:avLst/>
          </a:prstGeom>
          <a:solidFill>
            <a:srgbClr val="1A2A3A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084E8D30-F38E-405B-9F58-7F7D311FDE7F}"/>
              </a:ext>
            </a:extLst>
          </p:cNvPr>
          <p:cNvSpPr/>
          <p:nvPr/>
        </p:nvSpPr>
        <p:spPr>
          <a:xfrm>
            <a:off x="10119275" y="2602223"/>
            <a:ext cx="7384742" cy="6779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2400" i="1" dirty="0" err="1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resolveCd</a:t>
            </a:r>
            <a:r>
              <a:rPr lang="en-US" sz="240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newPath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Paths.get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(target);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</a:t>
            </a:r>
            <a:r>
              <a:rPr lang="en-US" sz="2400" dirty="0" err="1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newPath.isAbsolute</a:t>
            </a: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Tương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đối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newPath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currentDir.resolve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newPath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newPath</a:t>
            </a: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400" dirty="0" err="1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newPath.normalize</a:t>
            </a: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toAbsolutePath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</a:t>
            </a:r>
            <a:r>
              <a:rPr lang="en-US" sz="2400" dirty="0" err="1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Files.exists</a:t>
            </a: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400" dirty="0" err="1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newPath</a:t>
            </a: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"Thu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muc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khong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ton tai";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currentDirectory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newPath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4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109959D4-A645-4CC9-9B73-52B1A48D74DF}"/>
              </a:ext>
            </a:extLst>
          </p:cNvPr>
          <p:cNvSpPr/>
          <p:nvPr/>
        </p:nvSpPr>
        <p:spPr>
          <a:xfrm>
            <a:off x="1187187" y="2601337"/>
            <a:ext cx="103490" cy="13561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A36E52E-B512-493E-9EE7-E648FCC8B7EA}"/>
              </a:ext>
            </a:extLst>
          </p:cNvPr>
          <p:cNvSpPr/>
          <p:nvPr/>
        </p:nvSpPr>
        <p:spPr>
          <a:xfrm>
            <a:off x="1427751" y="2476500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Lưu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trạng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thái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F40EDFE0-B614-4DB8-940F-841ED43B20E3}"/>
              </a:ext>
            </a:extLst>
          </p:cNvPr>
          <p:cNvSpPr/>
          <p:nvPr/>
        </p:nvSpPr>
        <p:spPr>
          <a:xfrm>
            <a:off x="1381172" y="3226005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Biến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currentDirectory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(Path)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lưu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thư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mục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hiện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tại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per-client.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C684BBEA-C261-483F-A86B-F6EB9638D6D5}"/>
              </a:ext>
            </a:extLst>
          </p:cNvPr>
          <p:cNvSpPr/>
          <p:nvPr/>
        </p:nvSpPr>
        <p:spPr>
          <a:xfrm>
            <a:off x="1187187" y="4532330"/>
            <a:ext cx="103490" cy="13561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66E3930F-CFE4-442A-8A2E-DE1ECB1D47F2}"/>
              </a:ext>
            </a:extLst>
          </p:cNvPr>
          <p:cNvSpPr/>
          <p:nvPr/>
        </p:nvSpPr>
        <p:spPr>
          <a:xfrm>
            <a:off x="1427751" y="4407493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Đường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dẫn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tương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đối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EF12CE7A-13E7-4984-98E7-E465C59B465D}"/>
              </a:ext>
            </a:extLst>
          </p:cNvPr>
          <p:cNvSpPr/>
          <p:nvPr/>
        </p:nvSpPr>
        <p:spPr>
          <a:xfrm>
            <a:off x="1381172" y="5156998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currentDirectory.resolve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(target) –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giải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quyết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relative path.</a:t>
            </a: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C62CB8E2-73FC-4AA5-BAD6-61CC47A03A63}"/>
              </a:ext>
            </a:extLst>
          </p:cNvPr>
          <p:cNvSpPr/>
          <p:nvPr/>
        </p:nvSpPr>
        <p:spPr>
          <a:xfrm>
            <a:off x="1189433" y="6463323"/>
            <a:ext cx="103490" cy="13561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49E74FE6-CDC8-4A17-9071-C728B229CDC0}"/>
              </a:ext>
            </a:extLst>
          </p:cNvPr>
          <p:cNvSpPr/>
          <p:nvPr/>
        </p:nvSpPr>
        <p:spPr>
          <a:xfrm>
            <a:off x="1429997" y="6515100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Đường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dẫn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tuyệt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đối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8B24E53C-AC65-4002-849C-918C1F836C90}"/>
              </a:ext>
            </a:extLst>
          </p:cNvPr>
          <p:cNvSpPr/>
          <p:nvPr/>
        </p:nvSpPr>
        <p:spPr>
          <a:xfrm>
            <a:off x="1383418" y="7087991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Nếu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target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là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absolute path,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dùng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trực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tiếp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1FD97835-E159-4110-AF65-FAF54C660DF8}"/>
              </a:ext>
            </a:extLst>
          </p:cNvPr>
          <p:cNvSpPr/>
          <p:nvPr/>
        </p:nvSpPr>
        <p:spPr>
          <a:xfrm>
            <a:off x="1180099" y="8346155"/>
            <a:ext cx="103490" cy="13561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F59B79C0-22DF-4850-ADAB-3376CE369A82}"/>
              </a:ext>
            </a:extLst>
          </p:cNvPr>
          <p:cNvSpPr/>
          <p:nvPr/>
        </p:nvSpPr>
        <p:spPr>
          <a:xfrm>
            <a:off x="1420663" y="8366114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Kiểm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hợp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5FE88796-557F-4805-93F3-A416C016FC8B}"/>
              </a:ext>
            </a:extLst>
          </p:cNvPr>
          <p:cNvSpPr/>
          <p:nvPr/>
        </p:nvSpPr>
        <p:spPr>
          <a:xfrm>
            <a:off x="1374084" y="8970823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Files.exists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()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Files.isDirectory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()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trước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khi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chuyển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1" name="Freeform 23">
            <a:extLst>
              <a:ext uri="{FF2B5EF4-FFF2-40B4-BE49-F238E27FC236}">
                <a16:creationId xmlns:a16="http://schemas.microsoft.com/office/drawing/2014/main" id="{F3A08B85-DBB0-48B9-8C16-5D132A834BF3}"/>
              </a:ext>
            </a:extLst>
          </p:cNvPr>
          <p:cNvSpPr/>
          <p:nvPr/>
        </p:nvSpPr>
        <p:spPr>
          <a:xfrm flipH="1">
            <a:off x="8718314" y="1346359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52272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28">
            <a:extLst>
              <a:ext uri="{FF2B5EF4-FFF2-40B4-BE49-F238E27FC236}">
                <a16:creationId xmlns:a16="http://schemas.microsoft.com/office/drawing/2014/main" id="{7E760431-B325-4FD9-A118-619082DB86DF}"/>
              </a:ext>
            </a:extLst>
          </p:cNvPr>
          <p:cNvSpPr/>
          <p:nvPr/>
        </p:nvSpPr>
        <p:spPr>
          <a:xfrm flipV="1">
            <a:off x="-69726" y="315909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0" y="2495550"/>
                </a:moveTo>
                <a:lnTo>
                  <a:pt x="2495550" y="2495550"/>
                </a:lnTo>
                <a:lnTo>
                  <a:pt x="2495550" y="0"/>
                </a:lnTo>
                <a:lnTo>
                  <a:pt x="0" y="0"/>
                </a:lnTo>
                <a:lnTo>
                  <a:pt x="0" y="24955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964704" y="8005410"/>
            <a:ext cx="2281590" cy="2281590"/>
          </a:xfrm>
          <a:custGeom>
            <a:avLst/>
            <a:gdLst/>
            <a:ahLst/>
            <a:cxnLst/>
            <a:rect l="l" t="t" r="r" b="b"/>
            <a:pathLst>
              <a:path w="2281590" h="2281590">
                <a:moveTo>
                  <a:pt x="2281590" y="0"/>
                </a:moveTo>
                <a:lnTo>
                  <a:pt x="0" y="0"/>
                </a:lnTo>
                <a:lnTo>
                  <a:pt x="0" y="2281590"/>
                </a:lnTo>
                <a:lnTo>
                  <a:pt x="2281590" y="2281590"/>
                </a:lnTo>
                <a:lnTo>
                  <a:pt x="2281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617882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001274" y="511864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511864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511864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511864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9F144FDD-3D32-47E1-B3B5-C1B73A2E754B}"/>
              </a:ext>
            </a:extLst>
          </p:cNvPr>
          <p:cNvSpPr txBox="1"/>
          <p:nvPr/>
        </p:nvSpPr>
        <p:spPr>
          <a:xfrm>
            <a:off x="894718" y="663160"/>
            <a:ext cx="16154633" cy="1356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1"/>
              </a:lnSpc>
            </a:pPr>
            <a:r>
              <a:rPr lang="en-US" sz="8000" dirty="0">
                <a:solidFill>
                  <a:srgbClr val="FFFF66"/>
                </a:solidFill>
                <a:latin typeface="Josefin Sans Bold" pitchFamily="2" charset="0"/>
              </a:rPr>
              <a:t>Client CLI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1BED280F-761C-4232-B28A-97DC3E918C16}"/>
              </a:ext>
            </a:extLst>
          </p:cNvPr>
          <p:cNvSpPr/>
          <p:nvPr/>
        </p:nvSpPr>
        <p:spPr>
          <a:xfrm>
            <a:off x="9733048" y="1866901"/>
            <a:ext cx="8167295" cy="7772400"/>
          </a:xfrm>
          <a:prstGeom prst="rect">
            <a:avLst/>
          </a:prstGeom>
          <a:solidFill>
            <a:srgbClr val="1A2A3A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084E8D30-F38E-405B-9F58-7F7D311FDE7F}"/>
              </a:ext>
            </a:extLst>
          </p:cNvPr>
          <p:cNvSpPr/>
          <p:nvPr/>
        </p:nvSpPr>
        <p:spPr>
          <a:xfrm>
            <a:off x="9874558" y="2134724"/>
            <a:ext cx="7384742" cy="6779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2400" i="1" dirty="0" err="1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Vòng</a:t>
            </a:r>
            <a:r>
              <a:rPr lang="en-US" sz="240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i="1" dirty="0" err="1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lặp</a:t>
            </a:r>
            <a:r>
              <a:rPr lang="en-US" sz="240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i="1" dirty="0" err="1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chính</a:t>
            </a:r>
            <a:r>
              <a:rPr lang="en-US" sz="240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CLI: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("remote-shell&gt; ");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sc.nextLine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writer.write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"\n");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writer.flush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Đọc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đến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OUTPUT_BEGIN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((line =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reader.readLine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!= null)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OUTPUT_BEGIN.equals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(line)) break;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In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kết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quả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đến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OUTPUT_END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((line =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reader.readLine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!= null)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OUTPUT_END.equals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(line)) break;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4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109959D4-A645-4CC9-9B73-52B1A48D74DF}"/>
              </a:ext>
            </a:extLst>
          </p:cNvPr>
          <p:cNvSpPr/>
          <p:nvPr/>
        </p:nvSpPr>
        <p:spPr>
          <a:xfrm>
            <a:off x="882386" y="2339560"/>
            <a:ext cx="336814" cy="13561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0EDAA-ACF8-49E6-8B37-2AC0BF78C3D3}"/>
              </a:ext>
            </a:extLst>
          </p:cNvPr>
          <p:cNvSpPr/>
          <p:nvPr/>
        </p:nvSpPr>
        <p:spPr>
          <a:xfrm>
            <a:off x="894719" y="2339560"/>
            <a:ext cx="8402552" cy="1356140"/>
          </a:xfrm>
          <a:prstGeom prst="rect">
            <a:avLst/>
          </a:prstGeom>
          <a:noFill/>
          <a:ln w="5715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CE2FA8CE-B1BA-4C12-9339-7A1F1E6E8793}"/>
              </a:ext>
            </a:extLst>
          </p:cNvPr>
          <p:cNvSpPr/>
          <p:nvPr/>
        </p:nvSpPr>
        <p:spPr>
          <a:xfrm>
            <a:off x="1242950" y="2410186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Nhập</a:t>
            </a: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IP server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EB73D636-BBD7-458C-BFB4-E8F9D88847BF}"/>
              </a:ext>
            </a:extLst>
          </p:cNvPr>
          <p:cNvSpPr/>
          <p:nvPr/>
        </p:nvSpPr>
        <p:spPr>
          <a:xfrm>
            <a:off x="1274848" y="2976723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Scanner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đọc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IP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từ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console,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tạo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Socket(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ip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7000).</a:t>
            </a:r>
            <a:endParaRPr lang="en-US" sz="2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4B3D70B0-1996-463D-84BE-BCBDE742AB8B}"/>
              </a:ext>
            </a:extLst>
          </p:cNvPr>
          <p:cNvSpPr/>
          <p:nvPr/>
        </p:nvSpPr>
        <p:spPr>
          <a:xfrm>
            <a:off x="870054" y="4168360"/>
            <a:ext cx="336814" cy="13561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1E342E9-6599-451E-ADE5-76E5FC2F415D}"/>
              </a:ext>
            </a:extLst>
          </p:cNvPr>
          <p:cNvSpPr/>
          <p:nvPr/>
        </p:nvSpPr>
        <p:spPr>
          <a:xfrm>
            <a:off x="882386" y="4168360"/>
            <a:ext cx="8414885" cy="1356140"/>
          </a:xfrm>
          <a:prstGeom prst="rect">
            <a:avLst/>
          </a:prstGeom>
          <a:noFill/>
          <a:ln w="57150">
            <a:solidFill>
              <a:srgbClr val="8B5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B0A6A2B6-9604-4CA6-9316-F4939CFC4009}"/>
              </a:ext>
            </a:extLst>
          </p:cNvPr>
          <p:cNvSpPr/>
          <p:nvPr/>
        </p:nvSpPr>
        <p:spPr>
          <a:xfrm>
            <a:off x="1230618" y="4308657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Xác</a:t>
            </a: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thực</a:t>
            </a:r>
            <a:endParaRPr lang="en-US" sz="30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FB95E05C-DE16-4BE4-B879-2029BB3CA269}"/>
              </a:ext>
            </a:extLst>
          </p:cNvPr>
          <p:cNvSpPr/>
          <p:nvPr/>
        </p:nvSpPr>
        <p:spPr>
          <a:xfrm>
            <a:off x="1262516" y="4805523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Gửi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password,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nhận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AUTH_OK/FAIL.</a:t>
            </a:r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2927241E-142E-49B7-95D6-10B23659027C}"/>
              </a:ext>
            </a:extLst>
          </p:cNvPr>
          <p:cNvSpPr/>
          <p:nvPr/>
        </p:nvSpPr>
        <p:spPr>
          <a:xfrm>
            <a:off x="841235" y="5981700"/>
            <a:ext cx="336814" cy="15271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387AEE7-9AEA-4371-B6CA-9E6AFB65B564}"/>
              </a:ext>
            </a:extLst>
          </p:cNvPr>
          <p:cNvSpPr/>
          <p:nvPr/>
        </p:nvSpPr>
        <p:spPr>
          <a:xfrm>
            <a:off x="853568" y="5981700"/>
            <a:ext cx="8443704" cy="1527172"/>
          </a:xfrm>
          <a:prstGeom prst="rect">
            <a:avLst/>
          </a:prstGeom>
          <a:noFill/>
          <a:ln w="5715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DA4DFBB6-B7FD-408D-A711-D9938B33618F}"/>
              </a:ext>
            </a:extLst>
          </p:cNvPr>
          <p:cNvSpPr/>
          <p:nvPr/>
        </p:nvSpPr>
        <p:spPr>
          <a:xfrm>
            <a:off x="1201799" y="6061072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Vòng</a:t>
            </a: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lặp</a:t>
            </a: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lệnh</a:t>
            </a:r>
            <a:endParaRPr lang="en-US" sz="30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5DF7E840-D1D4-41A9-9349-571BC61269FC}"/>
              </a:ext>
            </a:extLst>
          </p:cNvPr>
          <p:cNvSpPr/>
          <p:nvPr/>
        </p:nvSpPr>
        <p:spPr>
          <a:xfrm>
            <a:off x="1233697" y="6591300"/>
            <a:ext cx="8402552" cy="789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remote-shell&gt; prompt,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đọc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lệnh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→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gửi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→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nhận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OUTPUT_BEGIN...END.</a:t>
            </a:r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ED46F6D5-E73E-42AC-87CA-FE3E318C9B10}"/>
              </a:ext>
            </a:extLst>
          </p:cNvPr>
          <p:cNvSpPr/>
          <p:nvPr/>
        </p:nvSpPr>
        <p:spPr>
          <a:xfrm>
            <a:off x="841235" y="8041064"/>
            <a:ext cx="336814" cy="1356140"/>
          </a:xfrm>
          <a:prstGeom prst="rect">
            <a:avLst/>
          </a:prstGeom>
          <a:solidFill>
            <a:srgbClr val="06B6D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EDC366A-0E65-41D0-A061-E02631F2FC88}"/>
              </a:ext>
            </a:extLst>
          </p:cNvPr>
          <p:cNvSpPr/>
          <p:nvPr/>
        </p:nvSpPr>
        <p:spPr>
          <a:xfrm>
            <a:off x="853568" y="8041064"/>
            <a:ext cx="8443704" cy="1356140"/>
          </a:xfrm>
          <a:prstGeom prst="rect">
            <a:avLst/>
          </a:prstGeom>
          <a:noFill/>
          <a:ln w="5715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35B04D94-4342-43B0-A55A-AC1CCDA34447}"/>
              </a:ext>
            </a:extLst>
          </p:cNvPr>
          <p:cNvSpPr/>
          <p:nvPr/>
        </p:nvSpPr>
        <p:spPr>
          <a:xfrm>
            <a:off x="1201799" y="8111690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Kết</a:t>
            </a: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thúc</a:t>
            </a:r>
            <a:endParaRPr lang="en-US" sz="30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5BDFA901-69C0-412C-9FFE-F97FF2D8E7EB}"/>
              </a:ext>
            </a:extLst>
          </p:cNvPr>
          <p:cNvSpPr/>
          <p:nvPr/>
        </p:nvSpPr>
        <p:spPr>
          <a:xfrm>
            <a:off x="1233697" y="8678227"/>
            <a:ext cx="8402552" cy="698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Lệnh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'exit' →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thoát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vòng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lặp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→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đóng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socket.</a:t>
            </a:r>
          </a:p>
        </p:txBody>
      </p:sp>
      <p:sp>
        <p:nvSpPr>
          <p:cNvPr id="37" name="Freeform 23">
            <a:extLst>
              <a:ext uri="{FF2B5EF4-FFF2-40B4-BE49-F238E27FC236}">
                <a16:creationId xmlns:a16="http://schemas.microsoft.com/office/drawing/2014/main" id="{8E1F8ECF-48FD-4F2C-AF22-FB6650A6F6E1}"/>
              </a:ext>
            </a:extLst>
          </p:cNvPr>
          <p:cNvSpPr/>
          <p:nvPr/>
        </p:nvSpPr>
        <p:spPr>
          <a:xfrm flipH="1">
            <a:off x="6477000" y="1196560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99197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flipH="1">
            <a:off x="15964704" y="8005410"/>
            <a:ext cx="2281590" cy="2281590"/>
          </a:xfrm>
          <a:custGeom>
            <a:avLst/>
            <a:gdLst/>
            <a:ahLst/>
            <a:cxnLst/>
            <a:rect l="l" t="t" r="r" b="b"/>
            <a:pathLst>
              <a:path w="2281590" h="2281590">
                <a:moveTo>
                  <a:pt x="2281590" y="0"/>
                </a:moveTo>
                <a:lnTo>
                  <a:pt x="0" y="0"/>
                </a:lnTo>
                <a:lnTo>
                  <a:pt x="0" y="2281590"/>
                </a:lnTo>
                <a:lnTo>
                  <a:pt x="2281590" y="2281590"/>
                </a:lnTo>
                <a:lnTo>
                  <a:pt x="2281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617882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001274" y="511864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511864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511864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511864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9F144FDD-3D32-47E1-B3B5-C1B73A2E754B}"/>
              </a:ext>
            </a:extLst>
          </p:cNvPr>
          <p:cNvSpPr txBox="1"/>
          <p:nvPr/>
        </p:nvSpPr>
        <p:spPr>
          <a:xfrm>
            <a:off x="894718" y="571500"/>
            <a:ext cx="16154633" cy="1356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1"/>
              </a:lnSpc>
            </a:pPr>
            <a:r>
              <a:rPr lang="en-US" sz="8000" dirty="0">
                <a:solidFill>
                  <a:srgbClr val="FFFF66"/>
                </a:solidFill>
                <a:latin typeface="Josefin Sans Bold" pitchFamily="2" charset="0"/>
              </a:rPr>
              <a:t>Client GUI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109959D4-A645-4CC9-9B73-52B1A48D74DF}"/>
              </a:ext>
            </a:extLst>
          </p:cNvPr>
          <p:cNvSpPr/>
          <p:nvPr/>
        </p:nvSpPr>
        <p:spPr>
          <a:xfrm>
            <a:off x="1187187" y="2095501"/>
            <a:ext cx="103490" cy="113585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A36E52E-B512-493E-9EE7-E648FCC8B7EA}"/>
              </a:ext>
            </a:extLst>
          </p:cNvPr>
          <p:cNvSpPr/>
          <p:nvPr/>
        </p:nvSpPr>
        <p:spPr>
          <a:xfrm>
            <a:off x="1427751" y="2095500"/>
            <a:ext cx="4945759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JTextField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IP + Port</a:t>
            </a: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F40EDFE0-B614-4DB8-940F-841ED43B20E3}"/>
              </a:ext>
            </a:extLst>
          </p:cNvPr>
          <p:cNvSpPr/>
          <p:nvPr/>
        </p:nvSpPr>
        <p:spPr>
          <a:xfrm>
            <a:off x="1381172" y="2606687"/>
            <a:ext cx="5413122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Nhập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địa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chỉ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server</a:t>
            </a: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57AF6439-2348-4A97-B89A-4A6A4ADEED0B}"/>
              </a:ext>
            </a:extLst>
          </p:cNvPr>
          <p:cNvSpPr/>
          <p:nvPr/>
        </p:nvSpPr>
        <p:spPr>
          <a:xfrm>
            <a:off x="1187187" y="3696239"/>
            <a:ext cx="103490" cy="113585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7575F81E-49BD-4145-8EE3-0C8408D742E8}"/>
              </a:ext>
            </a:extLst>
          </p:cNvPr>
          <p:cNvSpPr/>
          <p:nvPr/>
        </p:nvSpPr>
        <p:spPr>
          <a:xfrm>
            <a:off x="1427751" y="3696238"/>
            <a:ext cx="4945759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JPasswordField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29414EDF-7344-40C8-9A9E-9F53B78C1E13}"/>
              </a:ext>
            </a:extLst>
          </p:cNvPr>
          <p:cNvSpPr/>
          <p:nvPr/>
        </p:nvSpPr>
        <p:spPr>
          <a:xfrm>
            <a:off x="1381172" y="4207425"/>
            <a:ext cx="5413122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Nhập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password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bảo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mật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07145248-87FE-4445-86F3-58DF1D3063F3}"/>
              </a:ext>
            </a:extLst>
          </p:cNvPr>
          <p:cNvSpPr/>
          <p:nvPr/>
        </p:nvSpPr>
        <p:spPr>
          <a:xfrm>
            <a:off x="1187187" y="5317005"/>
            <a:ext cx="103490" cy="1135855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E2473EDF-6E75-4493-9714-66327556DF18}"/>
              </a:ext>
            </a:extLst>
          </p:cNvPr>
          <p:cNvSpPr/>
          <p:nvPr/>
        </p:nvSpPr>
        <p:spPr>
          <a:xfrm>
            <a:off x="1427751" y="5317004"/>
            <a:ext cx="6878049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JButton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Connect/Disconnect</a:t>
            </a:r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B7AF64FA-2007-4F97-A0CC-0116F0648802}"/>
              </a:ext>
            </a:extLst>
          </p:cNvPr>
          <p:cNvSpPr/>
          <p:nvPr/>
        </p:nvSpPr>
        <p:spPr>
          <a:xfrm>
            <a:off x="1381172" y="5828191"/>
            <a:ext cx="5413122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Quản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lý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kết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nối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CB70354E-6807-4B2C-B298-42A0B30B9F9D}"/>
              </a:ext>
            </a:extLst>
          </p:cNvPr>
          <p:cNvSpPr/>
          <p:nvPr/>
        </p:nvSpPr>
        <p:spPr>
          <a:xfrm>
            <a:off x="1187187" y="6931372"/>
            <a:ext cx="103490" cy="113585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DFEAAED9-3154-447A-BB5F-2D708041680E}"/>
              </a:ext>
            </a:extLst>
          </p:cNvPr>
          <p:cNvSpPr/>
          <p:nvPr/>
        </p:nvSpPr>
        <p:spPr>
          <a:xfrm>
            <a:off x="1427751" y="6931371"/>
            <a:ext cx="4945759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JTextArea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Output</a:t>
            </a:r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594943CA-64D1-4054-BA48-B0FB3FB559D5}"/>
              </a:ext>
            </a:extLst>
          </p:cNvPr>
          <p:cNvSpPr/>
          <p:nvPr/>
        </p:nvSpPr>
        <p:spPr>
          <a:xfrm>
            <a:off x="1381172" y="7442558"/>
            <a:ext cx="5413122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Hiển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thị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kết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quả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lệnh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1BEB120D-9E33-4995-A177-A4418123FAAF}"/>
              </a:ext>
            </a:extLst>
          </p:cNvPr>
          <p:cNvSpPr/>
          <p:nvPr/>
        </p:nvSpPr>
        <p:spPr>
          <a:xfrm>
            <a:off x="1187187" y="8438325"/>
            <a:ext cx="103490" cy="1135855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1ED57B43-160B-447E-85FE-8CDDE73C4587}"/>
              </a:ext>
            </a:extLst>
          </p:cNvPr>
          <p:cNvSpPr/>
          <p:nvPr/>
        </p:nvSpPr>
        <p:spPr>
          <a:xfrm>
            <a:off x="1427751" y="8438324"/>
            <a:ext cx="6344649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JTextField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Command + Send</a:t>
            </a:r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7E522B2A-B899-4C20-835C-536F7465601E}"/>
              </a:ext>
            </a:extLst>
          </p:cNvPr>
          <p:cNvSpPr/>
          <p:nvPr/>
        </p:nvSpPr>
        <p:spPr>
          <a:xfrm>
            <a:off x="1381172" y="8949511"/>
            <a:ext cx="5413122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Nhập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gửi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lệnh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D19A5F22-6351-4637-A303-8955AE98ADEF}"/>
              </a:ext>
            </a:extLst>
          </p:cNvPr>
          <p:cNvSpPr/>
          <p:nvPr/>
        </p:nvSpPr>
        <p:spPr>
          <a:xfrm>
            <a:off x="8033020" y="1638300"/>
            <a:ext cx="9439875" cy="8136835"/>
          </a:xfrm>
          <a:prstGeom prst="rect">
            <a:avLst/>
          </a:prstGeom>
          <a:solidFill>
            <a:srgbClr val="1A2A3A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1DA31592-3EBC-47CD-98B9-EABDB6DA8391}"/>
              </a:ext>
            </a:extLst>
          </p:cNvPr>
          <p:cNvSpPr/>
          <p:nvPr/>
        </p:nvSpPr>
        <p:spPr>
          <a:xfrm>
            <a:off x="9948794" y="1682842"/>
            <a:ext cx="5604733" cy="869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ACC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Remote Command Client GUI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21">
            <a:extLst>
              <a:ext uri="{FF2B5EF4-FFF2-40B4-BE49-F238E27FC236}">
                <a16:creationId xmlns:a16="http://schemas.microsoft.com/office/drawing/2014/main" id="{49D3D814-B38F-4F5C-8C8E-936960821A0B}"/>
              </a:ext>
            </a:extLst>
          </p:cNvPr>
          <p:cNvSpPr/>
          <p:nvPr/>
        </p:nvSpPr>
        <p:spPr>
          <a:xfrm>
            <a:off x="8137123" y="2589997"/>
            <a:ext cx="9228076" cy="946145"/>
          </a:xfrm>
          <a:prstGeom prst="rect">
            <a:avLst/>
          </a:prstGeom>
          <a:solidFill>
            <a:srgbClr val="112B47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B4EC5256-DE7B-4F14-9949-0F9415133728}"/>
              </a:ext>
            </a:extLst>
          </p:cNvPr>
          <p:cNvSpPr/>
          <p:nvPr/>
        </p:nvSpPr>
        <p:spPr>
          <a:xfrm>
            <a:off x="8161960" y="2701242"/>
            <a:ext cx="9961982" cy="678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IP: [127.0.0.1]  Port: [7000]  Pwd: [***]  [Connect] [Disconnect]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412C86CB-ACAE-4382-89E0-922E5E1DAE80}"/>
              </a:ext>
            </a:extLst>
          </p:cNvPr>
          <p:cNvSpPr/>
          <p:nvPr/>
        </p:nvSpPr>
        <p:spPr>
          <a:xfrm>
            <a:off x="8137123" y="3644634"/>
            <a:ext cx="9228076" cy="4623081"/>
          </a:xfrm>
          <a:prstGeom prst="rect">
            <a:avLst/>
          </a:prstGeom>
          <a:solidFill>
            <a:srgbClr val="0A1020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95D896FD-FFE7-46BA-87D2-88674DEDE9BC}"/>
              </a:ext>
            </a:extLst>
          </p:cNvPr>
          <p:cNvSpPr/>
          <p:nvPr/>
        </p:nvSpPr>
        <p:spPr>
          <a:xfrm>
            <a:off x="8161960" y="3739481"/>
            <a:ext cx="6222152" cy="38643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REMOTE COMMAND CLIENT GUI =====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[CONNECTED] 127.0.0.1:7000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dir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in drive C is System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code: 0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</a:t>
            </a:r>
            <a:endParaRPr lang="en-US" sz="2200" dirty="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0FE90D39-4E8D-4C8D-98CA-F8E0004BFD08}"/>
              </a:ext>
            </a:extLst>
          </p:cNvPr>
          <p:cNvSpPr/>
          <p:nvPr/>
        </p:nvSpPr>
        <p:spPr>
          <a:xfrm>
            <a:off x="8137123" y="8372820"/>
            <a:ext cx="9228076" cy="946145"/>
          </a:xfrm>
          <a:prstGeom prst="rect">
            <a:avLst/>
          </a:prstGeom>
          <a:solidFill>
            <a:srgbClr val="112B47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FE58324D-40D2-4AB4-88ED-927B63CB9426}"/>
              </a:ext>
            </a:extLst>
          </p:cNvPr>
          <p:cNvSpPr/>
          <p:nvPr/>
        </p:nvSpPr>
        <p:spPr>
          <a:xfrm>
            <a:off x="8161960" y="8484065"/>
            <a:ext cx="9961982" cy="678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Command: [                    ] [Send] [Clear]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Freeform 23">
            <a:extLst>
              <a:ext uri="{FF2B5EF4-FFF2-40B4-BE49-F238E27FC236}">
                <a16:creationId xmlns:a16="http://schemas.microsoft.com/office/drawing/2014/main" id="{17EC3FA3-0CCE-464C-9158-3173C1FA3990}"/>
              </a:ext>
            </a:extLst>
          </p:cNvPr>
          <p:cNvSpPr/>
          <p:nvPr/>
        </p:nvSpPr>
        <p:spPr>
          <a:xfrm flipH="1">
            <a:off x="10261484" y="1585458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9648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 flipV="1">
            <a:off x="1028700" y="677518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7001274" y="571500"/>
            <a:ext cx="212036" cy="21203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74690" y="571500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571500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49351" y="571500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7" name="TextBox 22">
            <a:extLst>
              <a:ext uri="{FF2B5EF4-FFF2-40B4-BE49-F238E27FC236}">
                <a16:creationId xmlns:a16="http://schemas.microsoft.com/office/drawing/2014/main" id="{B99EF7EB-3F55-4A87-A61F-E0CE0D184507}"/>
              </a:ext>
            </a:extLst>
          </p:cNvPr>
          <p:cNvSpPr txBox="1"/>
          <p:nvPr/>
        </p:nvSpPr>
        <p:spPr>
          <a:xfrm>
            <a:off x="879057" y="1028700"/>
            <a:ext cx="16154633" cy="1417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0881"/>
              </a:lnSpc>
            </a:pP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Xử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lý</a:t>
            </a:r>
            <a:r>
              <a:rPr lang="en-US" sz="88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800" dirty="0" err="1">
                <a:solidFill>
                  <a:srgbClr val="FFFF66"/>
                </a:solidFill>
                <a:latin typeface="Josefin Sans Bold" pitchFamily="2" charset="0"/>
              </a:rPr>
              <a:t>lỗi</a:t>
            </a:r>
            <a:endParaRPr lang="en-US" sz="88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38F90D34-E0EB-4877-ABB7-9FA99E2D9A0A}"/>
              </a:ext>
            </a:extLst>
          </p:cNvPr>
          <p:cNvSpPr/>
          <p:nvPr/>
        </p:nvSpPr>
        <p:spPr>
          <a:xfrm flipH="1">
            <a:off x="10261484" y="1585458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10">
            <a:extLst>
              <a:ext uri="{FF2B5EF4-FFF2-40B4-BE49-F238E27FC236}">
                <a16:creationId xmlns:a16="http://schemas.microsoft.com/office/drawing/2014/main" id="{6BCD6233-D845-46D9-B4A5-5CB5F8BE6E63}"/>
              </a:ext>
            </a:extLst>
          </p:cNvPr>
          <p:cNvSpPr/>
          <p:nvPr/>
        </p:nvSpPr>
        <p:spPr>
          <a:xfrm flipH="1">
            <a:off x="16037904" y="8052072"/>
            <a:ext cx="2234928" cy="2234928"/>
          </a:xfrm>
          <a:custGeom>
            <a:avLst/>
            <a:gdLst/>
            <a:ahLst/>
            <a:cxnLst/>
            <a:rect l="l" t="t" r="r" b="b"/>
            <a:pathLst>
              <a:path w="2234928" h="2234928">
                <a:moveTo>
                  <a:pt x="2234928" y="0"/>
                </a:moveTo>
                <a:lnTo>
                  <a:pt x="0" y="0"/>
                </a:lnTo>
                <a:lnTo>
                  <a:pt x="0" y="2234928"/>
                </a:lnTo>
                <a:lnTo>
                  <a:pt x="2234928" y="2234928"/>
                </a:lnTo>
                <a:lnTo>
                  <a:pt x="223492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EBE9DF3-8CC5-4183-96C6-596DED4825E2}"/>
              </a:ext>
            </a:extLst>
          </p:cNvPr>
          <p:cNvSpPr/>
          <p:nvPr/>
        </p:nvSpPr>
        <p:spPr>
          <a:xfrm>
            <a:off x="4732228" y="2537045"/>
            <a:ext cx="10042744" cy="762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Sai password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A9D0B52-3554-4EC2-BBB5-E70F07D0397C}"/>
              </a:ext>
            </a:extLst>
          </p:cNvPr>
          <p:cNvSpPr/>
          <p:nvPr/>
        </p:nvSpPr>
        <p:spPr>
          <a:xfrm>
            <a:off x="4744904" y="2519691"/>
            <a:ext cx="10042744" cy="1954157"/>
          </a:xfrm>
          <a:prstGeom prst="rect">
            <a:avLst/>
          </a:prstGeom>
          <a:noFill/>
          <a:ln w="38100"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31">
            <a:extLst>
              <a:ext uri="{FF2B5EF4-FFF2-40B4-BE49-F238E27FC236}">
                <a16:creationId xmlns:a16="http://schemas.microsoft.com/office/drawing/2014/main" id="{A8D666D0-BA86-4AFE-88DA-D1CC25C9F404}"/>
              </a:ext>
            </a:extLst>
          </p:cNvPr>
          <p:cNvSpPr txBox="1"/>
          <p:nvPr/>
        </p:nvSpPr>
        <p:spPr>
          <a:xfrm>
            <a:off x="4844055" y="3554387"/>
            <a:ext cx="984444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Server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trả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AUTH_FAIL,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đóng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kết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nối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ngay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lập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tức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5">
            <a:extLst>
              <a:ext uri="{FF2B5EF4-FFF2-40B4-BE49-F238E27FC236}">
                <a16:creationId xmlns:a16="http://schemas.microsoft.com/office/drawing/2014/main" id="{E56C98F5-770D-4C46-9845-C33CFFB05EB6}"/>
              </a:ext>
            </a:extLst>
          </p:cNvPr>
          <p:cNvSpPr/>
          <p:nvPr/>
        </p:nvSpPr>
        <p:spPr>
          <a:xfrm>
            <a:off x="7961231" y="2611064"/>
            <a:ext cx="6650990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AUTH_FAIL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AB94C79-115F-48A2-9CA1-EBF9574BF5C7}"/>
              </a:ext>
            </a:extLst>
          </p:cNvPr>
          <p:cNvSpPr/>
          <p:nvPr/>
        </p:nvSpPr>
        <p:spPr>
          <a:xfrm>
            <a:off x="4709037" y="4971268"/>
            <a:ext cx="10042744" cy="762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Mất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kết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nối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đột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ngột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23F3444-7484-41C6-A448-AF252F8A6B96}"/>
              </a:ext>
            </a:extLst>
          </p:cNvPr>
          <p:cNvSpPr/>
          <p:nvPr/>
        </p:nvSpPr>
        <p:spPr>
          <a:xfrm>
            <a:off x="4721713" y="4953914"/>
            <a:ext cx="10042744" cy="1954157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31">
            <a:extLst>
              <a:ext uri="{FF2B5EF4-FFF2-40B4-BE49-F238E27FC236}">
                <a16:creationId xmlns:a16="http://schemas.microsoft.com/office/drawing/2014/main" id="{D1F2B137-F306-453C-BC5A-8959A06B9179}"/>
              </a:ext>
            </a:extLst>
          </p:cNvPr>
          <p:cNvSpPr txBox="1"/>
          <p:nvPr/>
        </p:nvSpPr>
        <p:spPr>
          <a:xfrm>
            <a:off x="4820864" y="5988610"/>
            <a:ext cx="984444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indent="0"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defRPr>
            </a:lvl1pPr>
          </a:lstStyle>
          <a:p>
            <a:r>
              <a:rPr lang="en-US" dirty="0"/>
              <a:t>catch(</a:t>
            </a:r>
            <a:r>
              <a:rPr lang="en-US" dirty="0" err="1"/>
              <a:t>SocketException</a:t>
            </a:r>
            <a:r>
              <a:rPr lang="en-US" dirty="0"/>
              <a:t>) in 'Client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'.</a:t>
            </a:r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79AB4B66-B3A9-489E-BA2A-BDEDD7CFA45A}"/>
              </a:ext>
            </a:extLst>
          </p:cNvPr>
          <p:cNvSpPr/>
          <p:nvPr/>
        </p:nvSpPr>
        <p:spPr>
          <a:xfrm>
            <a:off x="7938040" y="5045287"/>
            <a:ext cx="6650990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Consolas" pitchFamily="34" charset="0"/>
              </a:rPr>
              <a:t>SocketException</a:t>
            </a:r>
            <a:endParaRPr lang="en-US" sz="2800" dirty="0">
              <a:solidFill>
                <a:schemeClr val="bg1">
                  <a:lumMod val="85000"/>
                </a:schemeClr>
              </a:solidFill>
              <a:latin typeface="Consolas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74EE15C-5C7F-4E77-882C-53DEEEC061B2}"/>
              </a:ext>
            </a:extLst>
          </p:cNvPr>
          <p:cNvSpPr/>
          <p:nvPr/>
        </p:nvSpPr>
        <p:spPr>
          <a:xfrm>
            <a:off x="4709037" y="7435824"/>
            <a:ext cx="10042744" cy="762000"/>
          </a:xfrm>
          <a:prstGeom prst="rect">
            <a:avLst/>
          </a:prstGeom>
          <a:solidFill>
            <a:srgbClr val="77933C"/>
          </a:solidFill>
          <a:ln>
            <a:solidFill>
              <a:srgbClr val="7793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Lệnh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không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hợp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3C34AD3-7370-4D88-A8E2-158B70765E00}"/>
              </a:ext>
            </a:extLst>
          </p:cNvPr>
          <p:cNvSpPr/>
          <p:nvPr/>
        </p:nvSpPr>
        <p:spPr>
          <a:xfrm>
            <a:off x="4721713" y="7418470"/>
            <a:ext cx="10042744" cy="1954157"/>
          </a:xfrm>
          <a:prstGeom prst="rect">
            <a:avLst/>
          </a:prstGeom>
          <a:noFill/>
          <a:ln w="38100">
            <a:solidFill>
              <a:srgbClr val="7793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31">
            <a:extLst>
              <a:ext uri="{FF2B5EF4-FFF2-40B4-BE49-F238E27FC236}">
                <a16:creationId xmlns:a16="http://schemas.microsoft.com/office/drawing/2014/main" id="{7749ADD9-3F1E-4724-8C0B-48430CC8996D}"/>
              </a:ext>
            </a:extLst>
          </p:cNvPr>
          <p:cNvSpPr txBox="1"/>
          <p:nvPr/>
        </p:nvSpPr>
        <p:spPr>
          <a:xfrm>
            <a:off x="4820864" y="8453166"/>
            <a:ext cx="984444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ProcessBuilder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trả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stderr + exit code ≠ 0.</a:t>
            </a:r>
          </a:p>
        </p:txBody>
      </p:sp>
      <p:sp>
        <p:nvSpPr>
          <p:cNvPr id="84" name="Text 5">
            <a:extLst>
              <a:ext uri="{FF2B5EF4-FFF2-40B4-BE49-F238E27FC236}">
                <a16:creationId xmlns:a16="http://schemas.microsoft.com/office/drawing/2014/main" id="{33E93A48-5F01-4AA4-B35B-9B5CFC9369FD}"/>
              </a:ext>
            </a:extLst>
          </p:cNvPr>
          <p:cNvSpPr/>
          <p:nvPr/>
        </p:nvSpPr>
        <p:spPr>
          <a:xfrm>
            <a:off x="7938040" y="7509843"/>
            <a:ext cx="6650990" cy="62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</a:rPr>
              <a:t>Exit code: 1</a:t>
            </a:r>
          </a:p>
        </p:txBody>
      </p:sp>
      <p:sp>
        <p:nvSpPr>
          <p:cNvPr id="85" name="Freeform 28">
            <a:extLst>
              <a:ext uri="{FF2B5EF4-FFF2-40B4-BE49-F238E27FC236}">
                <a16:creationId xmlns:a16="http://schemas.microsoft.com/office/drawing/2014/main" id="{D0291170-08BA-480B-919C-E793FCBD2539}"/>
              </a:ext>
            </a:extLst>
          </p:cNvPr>
          <p:cNvSpPr/>
          <p:nvPr/>
        </p:nvSpPr>
        <p:spPr>
          <a:xfrm flipV="1">
            <a:off x="6535" y="1889637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0" y="2495550"/>
                </a:moveTo>
                <a:lnTo>
                  <a:pt x="2495550" y="2495550"/>
                </a:lnTo>
                <a:lnTo>
                  <a:pt x="2495550" y="0"/>
                </a:lnTo>
                <a:lnTo>
                  <a:pt x="0" y="0"/>
                </a:lnTo>
                <a:lnTo>
                  <a:pt x="0" y="24955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156421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flipH="1">
            <a:off x="15964704" y="8005410"/>
            <a:ext cx="2281590" cy="2281590"/>
          </a:xfrm>
          <a:custGeom>
            <a:avLst/>
            <a:gdLst/>
            <a:ahLst/>
            <a:cxnLst/>
            <a:rect l="l" t="t" r="r" b="b"/>
            <a:pathLst>
              <a:path w="2281590" h="2281590">
                <a:moveTo>
                  <a:pt x="2281590" y="0"/>
                </a:moveTo>
                <a:lnTo>
                  <a:pt x="0" y="0"/>
                </a:lnTo>
                <a:lnTo>
                  <a:pt x="0" y="2281590"/>
                </a:lnTo>
                <a:lnTo>
                  <a:pt x="2281590" y="2281590"/>
                </a:lnTo>
                <a:lnTo>
                  <a:pt x="2281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617882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001274" y="511864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511864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511864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511864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9F144FDD-3D32-47E1-B3B5-C1B73A2E754B}"/>
              </a:ext>
            </a:extLst>
          </p:cNvPr>
          <p:cNvSpPr txBox="1"/>
          <p:nvPr/>
        </p:nvSpPr>
        <p:spPr>
          <a:xfrm>
            <a:off x="894718" y="967960"/>
            <a:ext cx="16154633" cy="1356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1"/>
              </a:lnSpc>
            </a:pPr>
            <a:r>
              <a:rPr lang="en-US" sz="8000" dirty="0">
                <a:solidFill>
                  <a:srgbClr val="FFFF66"/>
                </a:solidFill>
                <a:latin typeface="Josefin Sans Bold" pitchFamily="2" charset="0"/>
              </a:rPr>
              <a:t>Demo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</a:rPr>
              <a:t>hệ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</a:rPr>
              <a:t>thống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33093ABF-AD0F-4A42-BEC6-3916873E4AD1}"/>
              </a:ext>
            </a:extLst>
          </p:cNvPr>
          <p:cNvSpPr/>
          <p:nvPr/>
        </p:nvSpPr>
        <p:spPr>
          <a:xfrm>
            <a:off x="1027552" y="2628900"/>
            <a:ext cx="7944482" cy="6553200"/>
          </a:xfrm>
          <a:prstGeom prst="rect">
            <a:avLst/>
          </a:prstGeom>
          <a:solidFill>
            <a:srgbClr val="0C0C0C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39212F23-9B44-4322-8DDA-7A1082DA3507}"/>
              </a:ext>
            </a:extLst>
          </p:cNvPr>
          <p:cNvSpPr/>
          <p:nvPr/>
        </p:nvSpPr>
        <p:spPr>
          <a:xfrm>
            <a:off x="1048578" y="3411151"/>
            <a:ext cx="7944482" cy="45719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48FC68-1938-4437-8F4A-6D3E04ACBE3F}"/>
              </a:ext>
            </a:extLst>
          </p:cNvPr>
          <p:cNvSpPr txBox="1"/>
          <p:nvPr/>
        </p:nvSpPr>
        <p:spPr>
          <a:xfrm>
            <a:off x="1134717" y="2705100"/>
            <a:ext cx="7944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— port 7000</a:t>
            </a:r>
            <a:endParaRPr lang="en-US" sz="2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FC6DA9-8A05-4CE0-94D5-B617FF1C458F}"/>
              </a:ext>
            </a:extLst>
          </p:cNvPr>
          <p:cNvSpPr txBox="1"/>
          <p:nvPr/>
        </p:nvSpPr>
        <p:spPr>
          <a:xfrm>
            <a:off x="1134717" y="3543300"/>
            <a:ext cx="783731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REMOTE COMMAND SERVER =====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dang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chay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tai port 7000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Dang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ket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dang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ket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192.168.1.5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192.168.1.5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xac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thuc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thanh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cong.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[192.168.1.5]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Lenh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[192.168.1.5]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Lenh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dang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ket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192.168.1.8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192.168.1.8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xac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thuc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thanh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cong.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[192.168.1.8] </a:t>
            </a:r>
            <a:r>
              <a:rPr lang="en-US" sz="2400" dirty="0" err="1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Lenh</a:t>
            </a:r>
            <a:r>
              <a:rPr lang="en-US" sz="24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ls</a:t>
            </a:r>
            <a:endParaRPr lang="en-US" sz="2400" dirty="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A6D2DBEE-C374-466F-84EB-7ABD13BDC394}"/>
              </a:ext>
            </a:extLst>
          </p:cNvPr>
          <p:cNvSpPr/>
          <p:nvPr/>
        </p:nvSpPr>
        <p:spPr>
          <a:xfrm>
            <a:off x="9494035" y="2628900"/>
            <a:ext cx="7944482" cy="6553200"/>
          </a:xfrm>
          <a:prstGeom prst="rect">
            <a:avLst/>
          </a:prstGeom>
          <a:solidFill>
            <a:srgbClr val="0C0C0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A47795C3-D323-46B6-B3C3-2E5C7D131A8F}"/>
              </a:ext>
            </a:extLst>
          </p:cNvPr>
          <p:cNvSpPr/>
          <p:nvPr/>
        </p:nvSpPr>
        <p:spPr>
          <a:xfrm>
            <a:off x="9515061" y="3411151"/>
            <a:ext cx="7944482" cy="4571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FC9F99-2474-4284-B45B-5AAC5357930C}"/>
              </a:ext>
            </a:extLst>
          </p:cNvPr>
          <p:cNvSpPr txBox="1"/>
          <p:nvPr/>
        </p:nvSpPr>
        <p:spPr>
          <a:xfrm>
            <a:off x="9601200" y="2705100"/>
            <a:ext cx="7944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— CLI</a:t>
            </a:r>
            <a:endParaRPr lang="en-US" sz="28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10C1D9-AF60-444E-9427-C76CF5FF7D7D}"/>
              </a:ext>
            </a:extLst>
          </p:cNvPr>
          <p:cNvSpPr txBox="1"/>
          <p:nvPr/>
        </p:nvSpPr>
        <p:spPr>
          <a:xfrm>
            <a:off x="9601200" y="3543300"/>
            <a:ext cx="783731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Nhap</a:t>
            </a: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IP server: 192.168.1.10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Nhap</a:t>
            </a: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password: ****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 </a:t>
            </a:r>
            <a:r>
              <a:rPr lang="en-US" sz="2400" dirty="0" err="1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ket</a:t>
            </a: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</a:t>
            </a: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</a:t>
            </a: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xac</a:t>
            </a: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thuc</a:t>
            </a: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thanh</a:t>
            </a: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dirty="0" err="1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cong</a:t>
            </a: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remote-shell&gt; </a:t>
            </a:r>
            <a:r>
              <a:rPr lang="en-US" sz="2400" dirty="0" err="1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Volume in drive C is Windows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Directory of C:\server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baitap15_remoteserver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code: 0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remote-shell&gt; </a:t>
            </a:r>
            <a:r>
              <a:rPr lang="en-US" sz="2400" dirty="0" err="1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C:\server\baitap15_remoteserver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code: 0</a:t>
            </a:r>
            <a:endParaRPr lang="en-US" sz="2400" dirty="0"/>
          </a:p>
        </p:txBody>
      </p:sp>
      <p:sp>
        <p:nvSpPr>
          <p:cNvPr id="65" name="Freeform 23">
            <a:extLst>
              <a:ext uri="{FF2B5EF4-FFF2-40B4-BE49-F238E27FC236}">
                <a16:creationId xmlns:a16="http://schemas.microsoft.com/office/drawing/2014/main" id="{7551E1D9-F71F-40AA-AB12-219A36CFF1E6}"/>
              </a:ext>
            </a:extLst>
          </p:cNvPr>
          <p:cNvSpPr/>
          <p:nvPr/>
        </p:nvSpPr>
        <p:spPr>
          <a:xfrm flipH="1">
            <a:off x="9144000" y="1646030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13838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28">
            <a:extLst>
              <a:ext uri="{FF2B5EF4-FFF2-40B4-BE49-F238E27FC236}">
                <a16:creationId xmlns:a16="http://schemas.microsoft.com/office/drawing/2014/main" id="{E98EC69D-8ED7-49C9-984E-40D19C84A83C}"/>
              </a:ext>
            </a:extLst>
          </p:cNvPr>
          <p:cNvSpPr/>
          <p:nvPr/>
        </p:nvSpPr>
        <p:spPr>
          <a:xfrm flipV="1">
            <a:off x="-201283" y="552413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0" y="2495550"/>
                </a:moveTo>
                <a:lnTo>
                  <a:pt x="2495550" y="2495550"/>
                </a:lnTo>
                <a:lnTo>
                  <a:pt x="2495550" y="0"/>
                </a:lnTo>
                <a:lnTo>
                  <a:pt x="0" y="0"/>
                </a:lnTo>
                <a:lnTo>
                  <a:pt x="0" y="24955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964704" y="8005410"/>
            <a:ext cx="2281590" cy="2281590"/>
          </a:xfrm>
          <a:custGeom>
            <a:avLst/>
            <a:gdLst/>
            <a:ahLst/>
            <a:cxnLst/>
            <a:rect l="l" t="t" r="r" b="b"/>
            <a:pathLst>
              <a:path w="2281590" h="2281590">
                <a:moveTo>
                  <a:pt x="2281590" y="0"/>
                </a:moveTo>
                <a:lnTo>
                  <a:pt x="0" y="0"/>
                </a:lnTo>
                <a:lnTo>
                  <a:pt x="0" y="2281590"/>
                </a:lnTo>
                <a:lnTo>
                  <a:pt x="2281590" y="2281590"/>
                </a:lnTo>
                <a:lnTo>
                  <a:pt x="2281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617882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001274" y="511864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511864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511864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511864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9F144FDD-3D32-47E1-B3B5-C1B73A2E754B}"/>
              </a:ext>
            </a:extLst>
          </p:cNvPr>
          <p:cNvSpPr txBox="1"/>
          <p:nvPr/>
        </p:nvSpPr>
        <p:spPr>
          <a:xfrm>
            <a:off x="894718" y="967960"/>
            <a:ext cx="16154633" cy="1356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1"/>
              </a:lnSpc>
            </a:pP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Ưu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điểm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25" name="TextBox 31">
            <a:extLst>
              <a:ext uri="{FF2B5EF4-FFF2-40B4-BE49-F238E27FC236}">
                <a16:creationId xmlns:a16="http://schemas.microsoft.com/office/drawing/2014/main" id="{BECA5318-3F38-4850-B2F0-F985BE4E57D8}"/>
              </a:ext>
            </a:extLst>
          </p:cNvPr>
          <p:cNvSpPr txBox="1"/>
          <p:nvPr/>
        </p:nvSpPr>
        <p:spPr>
          <a:xfrm>
            <a:off x="2293359" y="4155292"/>
            <a:ext cx="642322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Thread-per-client → N client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D9948F-479E-4763-8B61-22C64BF6C7C6}"/>
              </a:ext>
            </a:extLst>
          </p:cNvPr>
          <p:cNvGrpSpPr/>
          <p:nvPr/>
        </p:nvGrpSpPr>
        <p:grpSpPr>
          <a:xfrm>
            <a:off x="2123599" y="2813539"/>
            <a:ext cx="6762750" cy="2747462"/>
            <a:chOff x="838200" y="2564999"/>
            <a:chExt cx="6762750" cy="2747462"/>
          </a:xfrm>
        </p:grpSpPr>
        <p:sp>
          <p:nvSpPr>
            <p:cNvPr id="27" name="Freeform 3">
              <a:extLst>
                <a:ext uri="{FF2B5EF4-FFF2-40B4-BE49-F238E27FC236}">
                  <a16:creationId xmlns:a16="http://schemas.microsoft.com/office/drawing/2014/main" id="{B1CCE19F-E72A-48C9-8029-60C4F03899B3}"/>
                </a:ext>
              </a:extLst>
            </p:cNvPr>
            <p:cNvSpPr/>
            <p:nvPr/>
          </p:nvSpPr>
          <p:spPr>
            <a:xfrm>
              <a:off x="838200" y="2763710"/>
              <a:ext cx="6762750" cy="2548751"/>
            </a:xfrm>
            <a:custGeom>
              <a:avLst/>
              <a:gdLst/>
              <a:ahLst/>
              <a:cxnLst/>
              <a:rect l="l" t="t" r="r" b="b"/>
              <a:pathLst>
                <a:path w="1628869" h="559860">
                  <a:moveTo>
                    <a:pt x="25036" y="0"/>
                  </a:moveTo>
                  <a:lnTo>
                    <a:pt x="1603833" y="0"/>
                  </a:lnTo>
                  <a:cubicBezTo>
                    <a:pt x="1610473" y="0"/>
                    <a:pt x="1616841" y="2638"/>
                    <a:pt x="1621536" y="7333"/>
                  </a:cubicBezTo>
                  <a:cubicBezTo>
                    <a:pt x="1626231" y="12028"/>
                    <a:pt x="1628869" y="18396"/>
                    <a:pt x="1628869" y="25036"/>
                  </a:cubicBezTo>
                  <a:lnTo>
                    <a:pt x="1628869" y="534824"/>
                  </a:lnTo>
                  <a:cubicBezTo>
                    <a:pt x="1628869" y="541464"/>
                    <a:pt x="1626231" y="547832"/>
                    <a:pt x="1621536" y="552528"/>
                  </a:cubicBezTo>
                  <a:cubicBezTo>
                    <a:pt x="1616841" y="557223"/>
                    <a:pt x="1610473" y="559860"/>
                    <a:pt x="1603833" y="559860"/>
                  </a:cubicBezTo>
                  <a:lnTo>
                    <a:pt x="25036" y="559860"/>
                  </a:lnTo>
                  <a:cubicBezTo>
                    <a:pt x="18396" y="559860"/>
                    <a:pt x="12028" y="557223"/>
                    <a:pt x="7333" y="552528"/>
                  </a:cubicBezTo>
                  <a:cubicBezTo>
                    <a:pt x="2638" y="547832"/>
                    <a:pt x="0" y="541464"/>
                    <a:pt x="0" y="534824"/>
                  </a:cubicBezTo>
                  <a:lnTo>
                    <a:pt x="0" y="25036"/>
                  </a:lnTo>
                  <a:cubicBezTo>
                    <a:pt x="0" y="18396"/>
                    <a:pt x="2638" y="12028"/>
                    <a:pt x="7333" y="7333"/>
                  </a:cubicBezTo>
                  <a:cubicBezTo>
                    <a:pt x="12028" y="2638"/>
                    <a:pt x="18396" y="0"/>
                    <a:pt x="25036" y="0"/>
                  </a:cubicBezTo>
                  <a:close/>
                </a:path>
              </a:pathLst>
            </a:custGeom>
            <a:ln w="9525" cap="sq">
              <a:solidFill>
                <a:srgbClr val="EFDDFF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3D7A918F-6481-41F2-8077-95EAAC4C8A0B}"/>
                </a:ext>
              </a:extLst>
            </p:cNvPr>
            <p:cNvSpPr txBox="1"/>
            <p:nvPr/>
          </p:nvSpPr>
          <p:spPr>
            <a:xfrm>
              <a:off x="838200" y="2564999"/>
              <a:ext cx="6762750" cy="2388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A5A25FC-0046-42CF-B381-466DA06E970D}"/>
              </a:ext>
            </a:extLst>
          </p:cNvPr>
          <p:cNvSpPr txBox="1"/>
          <p:nvPr/>
        </p:nvSpPr>
        <p:spPr>
          <a:xfrm>
            <a:off x="2284635" y="3312286"/>
            <a:ext cx="4314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luồng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31">
            <a:extLst>
              <a:ext uri="{FF2B5EF4-FFF2-40B4-BE49-F238E27FC236}">
                <a16:creationId xmlns:a16="http://schemas.microsoft.com/office/drawing/2014/main" id="{00A3B892-A63A-4A27-8EDF-ABE3963BB6FF}"/>
              </a:ext>
            </a:extLst>
          </p:cNvPr>
          <p:cNvSpPr txBox="1"/>
          <p:nvPr/>
        </p:nvSpPr>
        <p:spPr>
          <a:xfrm>
            <a:off x="9580136" y="4155292"/>
            <a:ext cx="642322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ngay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xong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polling.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9032C08-82EF-432B-B880-7649A8FA92D3}"/>
              </a:ext>
            </a:extLst>
          </p:cNvPr>
          <p:cNvGrpSpPr/>
          <p:nvPr/>
        </p:nvGrpSpPr>
        <p:grpSpPr>
          <a:xfrm>
            <a:off x="9410376" y="2813539"/>
            <a:ext cx="6762750" cy="2747462"/>
            <a:chOff x="838200" y="2564999"/>
            <a:chExt cx="6762750" cy="2747462"/>
          </a:xfrm>
        </p:grpSpPr>
        <p:sp>
          <p:nvSpPr>
            <p:cNvPr id="61" name="Freeform 3">
              <a:extLst>
                <a:ext uri="{FF2B5EF4-FFF2-40B4-BE49-F238E27FC236}">
                  <a16:creationId xmlns:a16="http://schemas.microsoft.com/office/drawing/2014/main" id="{97E41141-FEFB-4E34-9978-2BD63DC438D2}"/>
                </a:ext>
              </a:extLst>
            </p:cNvPr>
            <p:cNvSpPr/>
            <p:nvPr/>
          </p:nvSpPr>
          <p:spPr>
            <a:xfrm>
              <a:off x="838200" y="2763710"/>
              <a:ext cx="6762750" cy="2548751"/>
            </a:xfrm>
            <a:custGeom>
              <a:avLst/>
              <a:gdLst/>
              <a:ahLst/>
              <a:cxnLst/>
              <a:rect l="l" t="t" r="r" b="b"/>
              <a:pathLst>
                <a:path w="1628869" h="559860">
                  <a:moveTo>
                    <a:pt x="25036" y="0"/>
                  </a:moveTo>
                  <a:lnTo>
                    <a:pt x="1603833" y="0"/>
                  </a:lnTo>
                  <a:cubicBezTo>
                    <a:pt x="1610473" y="0"/>
                    <a:pt x="1616841" y="2638"/>
                    <a:pt x="1621536" y="7333"/>
                  </a:cubicBezTo>
                  <a:cubicBezTo>
                    <a:pt x="1626231" y="12028"/>
                    <a:pt x="1628869" y="18396"/>
                    <a:pt x="1628869" y="25036"/>
                  </a:cubicBezTo>
                  <a:lnTo>
                    <a:pt x="1628869" y="534824"/>
                  </a:lnTo>
                  <a:cubicBezTo>
                    <a:pt x="1628869" y="541464"/>
                    <a:pt x="1626231" y="547832"/>
                    <a:pt x="1621536" y="552528"/>
                  </a:cubicBezTo>
                  <a:cubicBezTo>
                    <a:pt x="1616841" y="557223"/>
                    <a:pt x="1610473" y="559860"/>
                    <a:pt x="1603833" y="559860"/>
                  </a:cubicBezTo>
                  <a:lnTo>
                    <a:pt x="25036" y="559860"/>
                  </a:lnTo>
                  <a:cubicBezTo>
                    <a:pt x="18396" y="559860"/>
                    <a:pt x="12028" y="557223"/>
                    <a:pt x="7333" y="552528"/>
                  </a:cubicBezTo>
                  <a:cubicBezTo>
                    <a:pt x="2638" y="547832"/>
                    <a:pt x="0" y="541464"/>
                    <a:pt x="0" y="534824"/>
                  </a:cubicBezTo>
                  <a:lnTo>
                    <a:pt x="0" y="25036"/>
                  </a:lnTo>
                  <a:cubicBezTo>
                    <a:pt x="0" y="18396"/>
                    <a:pt x="2638" y="12028"/>
                    <a:pt x="7333" y="7333"/>
                  </a:cubicBezTo>
                  <a:cubicBezTo>
                    <a:pt x="12028" y="2638"/>
                    <a:pt x="18396" y="0"/>
                    <a:pt x="25036" y="0"/>
                  </a:cubicBezTo>
                  <a:close/>
                </a:path>
              </a:pathLst>
            </a:custGeom>
            <a:ln w="9525" cap="sq">
              <a:solidFill>
                <a:srgbClr val="EFDDFF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62" name="TextBox 4">
              <a:extLst>
                <a:ext uri="{FF2B5EF4-FFF2-40B4-BE49-F238E27FC236}">
                  <a16:creationId xmlns:a16="http://schemas.microsoft.com/office/drawing/2014/main" id="{6BB8B166-BB4F-47BF-B383-6C5193CA3881}"/>
                </a:ext>
              </a:extLst>
            </p:cNvPr>
            <p:cNvSpPr txBox="1"/>
            <p:nvPr/>
          </p:nvSpPr>
          <p:spPr>
            <a:xfrm>
              <a:off x="838200" y="2564999"/>
              <a:ext cx="6762750" cy="2388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89E0F01-26D6-45D8-9473-19356326AC4C}"/>
              </a:ext>
            </a:extLst>
          </p:cNvPr>
          <p:cNvSpPr txBox="1"/>
          <p:nvPr/>
        </p:nvSpPr>
        <p:spPr>
          <a:xfrm>
            <a:off x="9571412" y="3312286"/>
            <a:ext cx="4314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Realtime</a:t>
            </a:r>
          </a:p>
        </p:txBody>
      </p:sp>
      <p:sp>
        <p:nvSpPr>
          <p:cNvPr id="64" name="TextBox 31">
            <a:extLst>
              <a:ext uri="{FF2B5EF4-FFF2-40B4-BE49-F238E27FC236}">
                <a16:creationId xmlns:a16="http://schemas.microsoft.com/office/drawing/2014/main" id="{CA5099F0-3351-43BC-8EA4-225FD26A1EAD}"/>
              </a:ext>
            </a:extLst>
          </p:cNvPr>
          <p:cNvSpPr txBox="1"/>
          <p:nvPr/>
        </p:nvSpPr>
        <p:spPr>
          <a:xfrm>
            <a:off x="2293359" y="7202790"/>
            <a:ext cx="642322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Windows/Linux,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337242F-353A-4D45-98CB-CB250557C6A8}"/>
              </a:ext>
            </a:extLst>
          </p:cNvPr>
          <p:cNvGrpSpPr/>
          <p:nvPr/>
        </p:nvGrpSpPr>
        <p:grpSpPr>
          <a:xfrm>
            <a:off x="2123599" y="5861037"/>
            <a:ext cx="6762750" cy="2747462"/>
            <a:chOff x="838200" y="2564999"/>
            <a:chExt cx="6762750" cy="2747462"/>
          </a:xfrm>
        </p:grpSpPr>
        <p:sp>
          <p:nvSpPr>
            <p:cNvPr id="66" name="Freeform 3">
              <a:extLst>
                <a:ext uri="{FF2B5EF4-FFF2-40B4-BE49-F238E27FC236}">
                  <a16:creationId xmlns:a16="http://schemas.microsoft.com/office/drawing/2014/main" id="{4E533B04-3831-4A46-A54C-0A229ABB551C}"/>
                </a:ext>
              </a:extLst>
            </p:cNvPr>
            <p:cNvSpPr/>
            <p:nvPr/>
          </p:nvSpPr>
          <p:spPr>
            <a:xfrm>
              <a:off x="838200" y="2763710"/>
              <a:ext cx="6762750" cy="2548751"/>
            </a:xfrm>
            <a:custGeom>
              <a:avLst/>
              <a:gdLst/>
              <a:ahLst/>
              <a:cxnLst/>
              <a:rect l="l" t="t" r="r" b="b"/>
              <a:pathLst>
                <a:path w="1628869" h="559860">
                  <a:moveTo>
                    <a:pt x="25036" y="0"/>
                  </a:moveTo>
                  <a:lnTo>
                    <a:pt x="1603833" y="0"/>
                  </a:lnTo>
                  <a:cubicBezTo>
                    <a:pt x="1610473" y="0"/>
                    <a:pt x="1616841" y="2638"/>
                    <a:pt x="1621536" y="7333"/>
                  </a:cubicBezTo>
                  <a:cubicBezTo>
                    <a:pt x="1626231" y="12028"/>
                    <a:pt x="1628869" y="18396"/>
                    <a:pt x="1628869" y="25036"/>
                  </a:cubicBezTo>
                  <a:lnTo>
                    <a:pt x="1628869" y="534824"/>
                  </a:lnTo>
                  <a:cubicBezTo>
                    <a:pt x="1628869" y="541464"/>
                    <a:pt x="1626231" y="547832"/>
                    <a:pt x="1621536" y="552528"/>
                  </a:cubicBezTo>
                  <a:cubicBezTo>
                    <a:pt x="1616841" y="557223"/>
                    <a:pt x="1610473" y="559860"/>
                    <a:pt x="1603833" y="559860"/>
                  </a:cubicBezTo>
                  <a:lnTo>
                    <a:pt x="25036" y="559860"/>
                  </a:lnTo>
                  <a:cubicBezTo>
                    <a:pt x="18396" y="559860"/>
                    <a:pt x="12028" y="557223"/>
                    <a:pt x="7333" y="552528"/>
                  </a:cubicBezTo>
                  <a:cubicBezTo>
                    <a:pt x="2638" y="547832"/>
                    <a:pt x="0" y="541464"/>
                    <a:pt x="0" y="534824"/>
                  </a:cubicBezTo>
                  <a:lnTo>
                    <a:pt x="0" y="25036"/>
                  </a:lnTo>
                  <a:cubicBezTo>
                    <a:pt x="0" y="18396"/>
                    <a:pt x="2638" y="12028"/>
                    <a:pt x="7333" y="7333"/>
                  </a:cubicBezTo>
                  <a:cubicBezTo>
                    <a:pt x="12028" y="2638"/>
                    <a:pt x="18396" y="0"/>
                    <a:pt x="25036" y="0"/>
                  </a:cubicBezTo>
                  <a:close/>
                </a:path>
              </a:pathLst>
            </a:custGeom>
            <a:ln w="9525" cap="sq">
              <a:solidFill>
                <a:srgbClr val="EFDDFF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67" name="TextBox 4">
              <a:extLst>
                <a:ext uri="{FF2B5EF4-FFF2-40B4-BE49-F238E27FC236}">
                  <a16:creationId xmlns:a16="http://schemas.microsoft.com/office/drawing/2014/main" id="{166A60DA-C62A-4DB1-BA9D-4A1061E5E5C8}"/>
                </a:ext>
              </a:extLst>
            </p:cNvPr>
            <p:cNvSpPr txBox="1"/>
            <p:nvPr/>
          </p:nvSpPr>
          <p:spPr>
            <a:xfrm>
              <a:off x="838200" y="2564999"/>
              <a:ext cx="6762750" cy="2388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3D4ECA3-C5A6-4374-8831-C11ED6A06499}"/>
              </a:ext>
            </a:extLst>
          </p:cNvPr>
          <p:cNvSpPr txBox="1"/>
          <p:nvPr/>
        </p:nvSpPr>
        <p:spPr>
          <a:xfrm>
            <a:off x="2284635" y="6359784"/>
            <a:ext cx="4314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Cross-platform</a:t>
            </a:r>
          </a:p>
        </p:txBody>
      </p:sp>
      <p:sp>
        <p:nvSpPr>
          <p:cNvPr id="69" name="TextBox 31">
            <a:extLst>
              <a:ext uri="{FF2B5EF4-FFF2-40B4-BE49-F238E27FC236}">
                <a16:creationId xmlns:a16="http://schemas.microsoft.com/office/drawing/2014/main" id="{678F4F6D-A5E7-45FE-80BB-950C63159218}"/>
              </a:ext>
            </a:extLst>
          </p:cNvPr>
          <p:cNvSpPr txBox="1"/>
          <p:nvPr/>
        </p:nvSpPr>
        <p:spPr>
          <a:xfrm>
            <a:off x="9580136" y="7202790"/>
            <a:ext cx="642322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Swing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thân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thiện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terminal.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78E8A7F-0379-4D4C-8D39-CF6EC7D2E81C}"/>
              </a:ext>
            </a:extLst>
          </p:cNvPr>
          <p:cNvGrpSpPr/>
          <p:nvPr/>
        </p:nvGrpSpPr>
        <p:grpSpPr>
          <a:xfrm>
            <a:off x="9410376" y="5861037"/>
            <a:ext cx="6762750" cy="2747462"/>
            <a:chOff x="838200" y="2564999"/>
            <a:chExt cx="6762750" cy="2747462"/>
          </a:xfrm>
        </p:grpSpPr>
        <p:sp>
          <p:nvSpPr>
            <p:cNvPr id="71" name="Freeform 3">
              <a:extLst>
                <a:ext uri="{FF2B5EF4-FFF2-40B4-BE49-F238E27FC236}">
                  <a16:creationId xmlns:a16="http://schemas.microsoft.com/office/drawing/2014/main" id="{F61F4289-7C73-402E-8CD8-89D561949C74}"/>
                </a:ext>
              </a:extLst>
            </p:cNvPr>
            <p:cNvSpPr/>
            <p:nvPr/>
          </p:nvSpPr>
          <p:spPr>
            <a:xfrm>
              <a:off x="838200" y="2763710"/>
              <a:ext cx="6762750" cy="2548751"/>
            </a:xfrm>
            <a:custGeom>
              <a:avLst/>
              <a:gdLst/>
              <a:ahLst/>
              <a:cxnLst/>
              <a:rect l="l" t="t" r="r" b="b"/>
              <a:pathLst>
                <a:path w="1628869" h="559860">
                  <a:moveTo>
                    <a:pt x="25036" y="0"/>
                  </a:moveTo>
                  <a:lnTo>
                    <a:pt x="1603833" y="0"/>
                  </a:lnTo>
                  <a:cubicBezTo>
                    <a:pt x="1610473" y="0"/>
                    <a:pt x="1616841" y="2638"/>
                    <a:pt x="1621536" y="7333"/>
                  </a:cubicBezTo>
                  <a:cubicBezTo>
                    <a:pt x="1626231" y="12028"/>
                    <a:pt x="1628869" y="18396"/>
                    <a:pt x="1628869" y="25036"/>
                  </a:cubicBezTo>
                  <a:lnTo>
                    <a:pt x="1628869" y="534824"/>
                  </a:lnTo>
                  <a:cubicBezTo>
                    <a:pt x="1628869" y="541464"/>
                    <a:pt x="1626231" y="547832"/>
                    <a:pt x="1621536" y="552528"/>
                  </a:cubicBezTo>
                  <a:cubicBezTo>
                    <a:pt x="1616841" y="557223"/>
                    <a:pt x="1610473" y="559860"/>
                    <a:pt x="1603833" y="559860"/>
                  </a:cubicBezTo>
                  <a:lnTo>
                    <a:pt x="25036" y="559860"/>
                  </a:lnTo>
                  <a:cubicBezTo>
                    <a:pt x="18396" y="559860"/>
                    <a:pt x="12028" y="557223"/>
                    <a:pt x="7333" y="552528"/>
                  </a:cubicBezTo>
                  <a:cubicBezTo>
                    <a:pt x="2638" y="547832"/>
                    <a:pt x="0" y="541464"/>
                    <a:pt x="0" y="534824"/>
                  </a:cubicBezTo>
                  <a:lnTo>
                    <a:pt x="0" y="25036"/>
                  </a:lnTo>
                  <a:cubicBezTo>
                    <a:pt x="0" y="18396"/>
                    <a:pt x="2638" y="12028"/>
                    <a:pt x="7333" y="7333"/>
                  </a:cubicBezTo>
                  <a:cubicBezTo>
                    <a:pt x="12028" y="2638"/>
                    <a:pt x="18396" y="0"/>
                    <a:pt x="25036" y="0"/>
                  </a:cubicBezTo>
                  <a:close/>
                </a:path>
              </a:pathLst>
            </a:custGeom>
            <a:ln w="9525" cap="sq">
              <a:solidFill>
                <a:srgbClr val="EFDDFF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72" name="TextBox 4">
              <a:extLst>
                <a:ext uri="{FF2B5EF4-FFF2-40B4-BE49-F238E27FC236}">
                  <a16:creationId xmlns:a16="http://schemas.microsoft.com/office/drawing/2014/main" id="{D4980871-95B5-4990-A76C-3D28A2577EA3}"/>
                </a:ext>
              </a:extLst>
            </p:cNvPr>
            <p:cNvSpPr txBox="1"/>
            <p:nvPr/>
          </p:nvSpPr>
          <p:spPr>
            <a:xfrm>
              <a:off x="838200" y="2564999"/>
              <a:ext cx="6762750" cy="2388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093EC426-0AF2-4983-B30F-865F572742A8}"/>
              </a:ext>
            </a:extLst>
          </p:cNvPr>
          <p:cNvSpPr txBox="1"/>
          <p:nvPr/>
        </p:nvSpPr>
        <p:spPr>
          <a:xfrm>
            <a:off x="9571412" y="6359784"/>
            <a:ext cx="4314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GUI</a:t>
            </a:r>
          </a:p>
        </p:txBody>
      </p:sp>
      <p:sp>
        <p:nvSpPr>
          <p:cNvPr id="75" name="AutoShape 7">
            <a:extLst>
              <a:ext uri="{FF2B5EF4-FFF2-40B4-BE49-F238E27FC236}">
                <a16:creationId xmlns:a16="http://schemas.microsoft.com/office/drawing/2014/main" id="{D508863B-9862-409A-B26C-8CEBC3362635}"/>
              </a:ext>
            </a:extLst>
          </p:cNvPr>
          <p:cNvSpPr/>
          <p:nvPr/>
        </p:nvSpPr>
        <p:spPr>
          <a:xfrm>
            <a:off x="2123599" y="3958618"/>
            <a:ext cx="676275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" name="AutoShape 7">
            <a:extLst>
              <a:ext uri="{FF2B5EF4-FFF2-40B4-BE49-F238E27FC236}">
                <a16:creationId xmlns:a16="http://schemas.microsoft.com/office/drawing/2014/main" id="{AFCA0874-F1F1-4442-9ABE-590D52D8D869}"/>
              </a:ext>
            </a:extLst>
          </p:cNvPr>
          <p:cNvSpPr/>
          <p:nvPr/>
        </p:nvSpPr>
        <p:spPr>
          <a:xfrm>
            <a:off x="9410376" y="3973857"/>
            <a:ext cx="676275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AutoShape 7">
            <a:extLst>
              <a:ext uri="{FF2B5EF4-FFF2-40B4-BE49-F238E27FC236}">
                <a16:creationId xmlns:a16="http://schemas.microsoft.com/office/drawing/2014/main" id="{3D750936-66AA-401A-B804-4C539943E045}"/>
              </a:ext>
            </a:extLst>
          </p:cNvPr>
          <p:cNvSpPr/>
          <p:nvPr/>
        </p:nvSpPr>
        <p:spPr>
          <a:xfrm>
            <a:off x="2123599" y="7014992"/>
            <a:ext cx="676275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8" name="AutoShape 7">
            <a:extLst>
              <a:ext uri="{FF2B5EF4-FFF2-40B4-BE49-F238E27FC236}">
                <a16:creationId xmlns:a16="http://schemas.microsoft.com/office/drawing/2014/main" id="{A68933D7-A29B-4757-BE8E-20239A2F9951}"/>
              </a:ext>
            </a:extLst>
          </p:cNvPr>
          <p:cNvSpPr/>
          <p:nvPr/>
        </p:nvSpPr>
        <p:spPr>
          <a:xfrm>
            <a:off x="9410376" y="7014992"/>
            <a:ext cx="676275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Freeform 23">
            <a:extLst>
              <a:ext uri="{FF2B5EF4-FFF2-40B4-BE49-F238E27FC236}">
                <a16:creationId xmlns:a16="http://schemas.microsoft.com/office/drawing/2014/main" id="{107E0E25-51F0-442B-9EFC-D705E7389EF3}"/>
              </a:ext>
            </a:extLst>
          </p:cNvPr>
          <p:cNvSpPr/>
          <p:nvPr/>
        </p:nvSpPr>
        <p:spPr>
          <a:xfrm flipH="1">
            <a:off x="5680237" y="1605029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26790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flipH="1">
            <a:off x="15964704" y="8005410"/>
            <a:ext cx="2281590" cy="2281590"/>
          </a:xfrm>
          <a:custGeom>
            <a:avLst/>
            <a:gdLst/>
            <a:ahLst/>
            <a:cxnLst/>
            <a:rect l="l" t="t" r="r" b="b"/>
            <a:pathLst>
              <a:path w="2281590" h="2281590">
                <a:moveTo>
                  <a:pt x="2281590" y="0"/>
                </a:moveTo>
                <a:lnTo>
                  <a:pt x="0" y="0"/>
                </a:lnTo>
                <a:lnTo>
                  <a:pt x="0" y="2281590"/>
                </a:lnTo>
                <a:lnTo>
                  <a:pt x="2281590" y="2281590"/>
                </a:lnTo>
                <a:lnTo>
                  <a:pt x="2281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617882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001274" y="511864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511864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511864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511864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9F144FDD-3D32-47E1-B3B5-C1B73A2E754B}"/>
              </a:ext>
            </a:extLst>
          </p:cNvPr>
          <p:cNvSpPr txBox="1"/>
          <p:nvPr/>
        </p:nvSpPr>
        <p:spPr>
          <a:xfrm>
            <a:off x="894718" y="967960"/>
            <a:ext cx="16154633" cy="1356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81"/>
              </a:lnSpc>
            </a:pP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Hạn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chế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973B3D08-BAF6-454E-BC5B-0414E84FA0C0}"/>
              </a:ext>
            </a:extLst>
          </p:cNvPr>
          <p:cNvSpPr/>
          <p:nvPr/>
        </p:nvSpPr>
        <p:spPr>
          <a:xfrm>
            <a:off x="2861552" y="2568161"/>
            <a:ext cx="360564" cy="1774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32A7229-008B-4C68-BB9A-C3996D13D230}"/>
              </a:ext>
            </a:extLst>
          </p:cNvPr>
          <p:cNvSpPr/>
          <p:nvPr/>
        </p:nvSpPr>
        <p:spPr>
          <a:xfrm>
            <a:off x="2873884" y="2568160"/>
            <a:ext cx="12540231" cy="1774203"/>
          </a:xfrm>
          <a:prstGeom prst="rect">
            <a:avLst/>
          </a:prstGeom>
          <a:noFill/>
          <a:ln w="5715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D0578273-EB92-4F6A-AE4B-7442ADC4B3DA}"/>
              </a:ext>
            </a:extLst>
          </p:cNvPr>
          <p:cNvSpPr/>
          <p:nvPr/>
        </p:nvSpPr>
        <p:spPr>
          <a:xfrm>
            <a:off x="3222116" y="2647533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Chưa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mã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hóa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dữ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liệu</a:t>
            </a:r>
            <a:endParaRPr lang="en-US" sz="3000" b="1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18699E65-0CDF-46B3-A661-1B404EC86F3C}"/>
              </a:ext>
            </a:extLst>
          </p:cNvPr>
          <p:cNvSpPr/>
          <p:nvPr/>
        </p:nvSpPr>
        <p:spPr>
          <a:xfrm>
            <a:off x="3234448" y="3294145"/>
            <a:ext cx="10427068" cy="789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Lệnh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kết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quả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truyền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dưới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dạng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plaintext qua TCP.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Rủi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ro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bị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sniff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trên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mạng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LAN.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53B35548-18AE-4E76-ACD8-794705E81836}"/>
              </a:ext>
            </a:extLst>
          </p:cNvPr>
          <p:cNvSpPr/>
          <p:nvPr/>
        </p:nvSpPr>
        <p:spPr>
          <a:xfrm>
            <a:off x="2861552" y="4809734"/>
            <a:ext cx="360564" cy="1774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3359F3C-BA14-4739-843C-BD35210D02A9}"/>
              </a:ext>
            </a:extLst>
          </p:cNvPr>
          <p:cNvSpPr/>
          <p:nvPr/>
        </p:nvSpPr>
        <p:spPr>
          <a:xfrm>
            <a:off x="2873884" y="4809733"/>
            <a:ext cx="12540231" cy="1774203"/>
          </a:xfrm>
          <a:prstGeom prst="rect">
            <a:avLst/>
          </a:prstGeom>
          <a:noFill/>
          <a:ln w="5715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F0A787F1-6C17-46EE-80B1-8D8F896F6B43}"/>
              </a:ext>
            </a:extLst>
          </p:cNvPr>
          <p:cNvSpPr/>
          <p:nvPr/>
        </p:nvSpPr>
        <p:spPr>
          <a:xfrm>
            <a:off x="3222116" y="4889106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Password hard-code</a:t>
            </a:r>
          </a:p>
        </p:txBody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45F52353-0679-4AE8-9FF2-3AB372C16D1E}"/>
              </a:ext>
            </a:extLst>
          </p:cNvPr>
          <p:cNvSpPr/>
          <p:nvPr/>
        </p:nvSpPr>
        <p:spPr>
          <a:xfrm>
            <a:off x="3234448" y="5535718"/>
            <a:ext cx="10427068" cy="789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SERVER_PASSWORD = "1103"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viết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thẳng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trong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source code.</a:t>
            </a:r>
          </a:p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Cần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chuyển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sang config file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hoặc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env variable.</a:t>
            </a:r>
          </a:p>
        </p:txBody>
      </p:sp>
      <p:sp>
        <p:nvSpPr>
          <p:cNvPr id="74" name="Shape 7">
            <a:extLst>
              <a:ext uri="{FF2B5EF4-FFF2-40B4-BE49-F238E27FC236}">
                <a16:creationId xmlns:a16="http://schemas.microsoft.com/office/drawing/2014/main" id="{6BB5FFAB-087E-4A05-B224-D856FE5B31F8}"/>
              </a:ext>
            </a:extLst>
          </p:cNvPr>
          <p:cNvSpPr/>
          <p:nvPr/>
        </p:nvSpPr>
        <p:spPr>
          <a:xfrm>
            <a:off x="2861552" y="7099577"/>
            <a:ext cx="360564" cy="1774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0E4BA4-299C-4E87-A9F1-2671EDEFBF4E}"/>
              </a:ext>
            </a:extLst>
          </p:cNvPr>
          <p:cNvSpPr/>
          <p:nvPr/>
        </p:nvSpPr>
        <p:spPr>
          <a:xfrm>
            <a:off x="2873884" y="7099576"/>
            <a:ext cx="12540231" cy="1774203"/>
          </a:xfrm>
          <a:prstGeom prst="rect">
            <a:avLst/>
          </a:prstGeom>
          <a:noFill/>
          <a:ln w="5715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766BB852-E81D-4735-9378-BD02A1867DEA}"/>
              </a:ext>
            </a:extLst>
          </p:cNvPr>
          <p:cNvSpPr/>
          <p:nvPr/>
        </p:nvSpPr>
        <p:spPr>
          <a:xfrm>
            <a:off x="3222116" y="7178949"/>
            <a:ext cx="7297651" cy="51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Chưa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phân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quyền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81" name="Text 5">
            <a:extLst>
              <a:ext uri="{FF2B5EF4-FFF2-40B4-BE49-F238E27FC236}">
                <a16:creationId xmlns:a16="http://schemas.microsoft.com/office/drawing/2014/main" id="{C24625A7-089C-44A0-BA44-FE299586A951}"/>
              </a:ext>
            </a:extLst>
          </p:cNvPr>
          <p:cNvSpPr/>
          <p:nvPr/>
        </p:nvSpPr>
        <p:spPr>
          <a:xfrm>
            <a:off x="3234448" y="7825561"/>
            <a:ext cx="10427068" cy="789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Mọi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client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xác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thực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đúng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đều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có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quyền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chạy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bất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kỳ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lệnh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nào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  <a:p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Cần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thêm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cơ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chế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whitelist/blacklist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lệnh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2" name="Freeform 23">
            <a:extLst>
              <a:ext uri="{FF2B5EF4-FFF2-40B4-BE49-F238E27FC236}">
                <a16:creationId xmlns:a16="http://schemas.microsoft.com/office/drawing/2014/main" id="{AE164E58-0CB9-492E-95DB-B80F64B75A1F}"/>
              </a:ext>
            </a:extLst>
          </p:cNvPr>
          <p:cNvSpPr/>
          <p:nvPr/>
        </p:nvSpPr>
        <p:spPr>
          <a:xfrm flipH="1">
            <a:off x="6101929" y="1493940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68441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Freeform 28">
            <a:extLst>
              <a:ext uri="{FF2B5EF4-FFF2-40B4-BE49-F238E27FC236}">
                <a16:creationId xmlns:a16="http://schemas.microsoft.com/office/drawing/2014/main" id="{97F1C3E5-F93C-4606-A38D-9BDA0A4EC4BE}"/>
              </a:ext>
            </a:extLst>
          </p:cNvPr>
          <p:cNvSpPr/>
          <p:nvPr/>
        </p:nvSpPr>
        <p:spPr>
          <a:xfrm flipV="1">
            <a:off x="-35094" y="1609225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0" y="2495550"/>
                </a:moveTo>
                <a:lnTo>
                  <a:pt x="2495550" y="2495550"/>
                </a:lnTo>
                <a:lnTo>
                  <a:pt x="2495550" y="0"/>
                </a:lnTo>
                <a:lnTo>
                  <a:pt x="0" y="0"/>
                </a:lnTo>
                <a:lnTo>
                  <a:pt x="0" y="24955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964704" y="8005410"/>
            <a:ext cx="2281590" cy="2281590"/>
          </a:xfrm>
          <a:custGeom>
            <a:avLst/>
            <a:gdLst/>
            <a:ahLst/>
            <a:cxnLst/>
            <a:rect l="l" t="t" r="r" b="b"/>
            <a:pathLst>
              <a:path w="2281590" h="2281590">
                <a:moveTo>
                  <a:pt x="2281590" y="0"/>
                </a:moveTo>
                <a:lnTo>
                  <a:pt x="0" y="0"/>
                </a:lnTo>
                <a:lnTo>
                  <a:pt x="0" y="2281590"/>
                </a:lnTo>
                <a:lnTo>
                  <a:pt x="2281590" y="2281590"/>
                </a:lnTo>
                <a:lnTo>
                  <a:pt x="228159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617882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001274" y="511864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511864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511864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511864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9F144FDD-3D32-47E1-B3B5-C1B73A2E754B}"/>
              </a:ext>
            </a:extLst>
          </p:cNvPr>
          <p:cNvSpPr txBox="1"/>
          <p:nvPr/>
        </p:nvSpPr>
        <p:spPr>
          <a:xfrm>
            <a:off x="784341" y="922683"/>
            <a:ext cx="16154633" cy="1356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81"/>
              </a:lnSpc>
            </a:pP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Hướng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phát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triển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55989B07-9200-49A3-8D92-279EB2F9E3FD}"/>
              </a:ext>
            </a:extLst>
          </p:cNvPr>
          <p:cNvSpPr/>
          <p:nvPr/>
        </p:nvSpPr>
        <p:spPr>
          <a:xfrm>
            <a:off x="338286" y="2933700"/>
            <a:ext cx="4191000" cy="5819679"/>
          </a:xfrm>
          <a:prstGeom prst="rect">
            <a:avLst/>
          </a:prstGeom>
          <a:solidFill>
            <a:srgbClr val="112B47"/>
          </a:solidFill>
          <a:ln w="28575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D61FF499-2AC9-4414-A74F-9B469C149C30}"/>
              </a:ext>
            </a:extLst>
          </p:cNvPr>
          <p:cNvSpPr/>
          <p:nvPr/>
        </p:nvSpPr>
        <p:spPr>
          <a:xfrm>
            <a:off x="1427946" y="3326130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🔒</a:t>
            </a:r>
            <a:endParaRPr lang="en-US" sz="72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E6335AD2-CD34-4FBF-A248-0A1833D15B12}"/>
              </a:ext>
            </a:extLst>
          </p:cNvPr>
          <p:cNvSpPr/>
          <p:nvPr/>
        </p:nvSpPr>
        <p:spPr>
          <a:xfrm>
            <a:off x="1088856" y="5275850"/>
            <a:ext cx="27432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CC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SSL/TLS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C9D7CD4F-C893-47AA-A590-2AC6F278B653}"/>
              </a:ext>
            </a:extLst>
          </p:cNvPr>
          <p:cNvSpPr/>
          <p:nvPr/>
        </p:nvSpPr>
        <p:spPr>
          <a:xfrm flipV="1">
            <a:off x="1774656" y="6114050"/>
            <a:ext cx="1447800" cy="83819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0B8153DB-81C6-4A15-A03C-FE9B82733FAD}"/>
              </a:ext>
            </a:extLst>
          </p:cNvPr>
          <p:cNvSpPr/>
          <p:nvPr/>
        </p:nvSpPr>
        <p:spPr>
          <a:xfrm>
            <a:off x="448776" y="6826519"/>
            <a:ext cx="3970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Mã hóa toàn bộ kết nối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bằng SSLSocket Java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E7B28CBB-B9AD-46B1-8293-F6CACB21789E}"/>
              </a:ext>
            </a:extLst>
          </p:cNvPr>
          <p:cNvSpPr/>
          <p:nvPr/>
        </p:nvSpPr>
        <p:spPr>
          <a:xfrm>
            <a:off x="4781148" y="2933700"/>
            <a:ext cx="4191000" cy="5819679"/>
          </a:xfrm>
          <a:prstGeom prst="rect">
            <a:avLst/>
          </a:prstGeom>
          <a:solidFill>
            <a:srgbClr val="112B47"/>
          </a:solidFill>
          <a:ln w="2857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6D38A364-FD90-4168-9A56-534F6A1E22E8}"/>
              </a:ext>
            </a:extLst>
          </p:cNvPr>
          <p:cNvSpPr/>
          <p:nvPr/>
        </p:nvSpPr>
        <p:spPr>
          <a:xfrm>
            <a:off x="5870808" y="3326131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📁</a:t>
            </a:r>
            <a:endParaRPr lang="en-US" sz="72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7E7E9F44-892F-4143-9B94-0AD5B7BE5A32}"/>
              </a:ext>
            </a:extLst>
          </p:cNvPr>
          <p:cNvSpPr/>
          <p:nvPr/>
        </p:nvSpPr>
        <p:spPr>
          <a:xfrm>
            <a:off x="5533623" y="5275850"/>
            <a:ext cx="27432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</a:t>
            </a:r>
            <a:endParaRPr lang="en-US" sz="3200" dirty="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B27C32E2-879B-46BA-B4B9-90063505FD35}"/>
              </a:ext>
            </a:extLst>
          </p:cNvPr>
          <p:cNvSpPr/>
          <p:nvPr/>
        </p:nvSpPr>
        <p:spPr>
          <a:xfrm flipV="1">
            <a:off x="6152748" y="6072140"/>
            <a:ext cx="1447800" cy="83819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4A0B4E69-AA2F-459F-BB5B-B8ED54D6414E}"/>
              </a:ext>
            </a:extLst>
          </p:cNvPr>
          <p:cNvSpPr/>
          <p:nvPr/>
        </p:nvSpPr>
        <p:spPr>
          <a:xfrm>
            <a:off x="4891638" y="6826520"/>
            <a:ext cx="3970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Truyền</a:t>
            </a: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file </a:t>
            </a: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giữa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client </a:t>
            </a: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</a:t>
            </a: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server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4">
            <a:extLst>
              <a:ext uri="{FF2B5EF4-FFF2-40B4-BE49-F238E27FC236}">
                <a16:creationId xmlns:a16="http://schemas.microsoft.com/office/drawing/2014/main" id="{7A88BF50-85D7-449F-A557-C401F9F213F1}"/>
              </a:ext>
            </a:extLst>
          </p:cNvPr>
          <p:cNvSpPr/>
          <p:nvPr/>
        </p:nvSpPr>
        <p:spPr>
          <a:xfrm>
            <a:off x="9273138" y="2933700"/>
            <a:ext cx="4191000" cy="5819679"/>
          </a:xfrm>
          <a:prstGeom prst="rect">
            <a:avLst/>
          </a:prstGeom>
          <a:solidFill>
            <a:srgbClr val="112B47"/>
          </a:solidFill>
          <a:ln w="28575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6" name="Text 5">
            <a:extLst>
              <a:ext uri="{FF2B5EF4-FFF2-40B4-BE49-F238E27FC236}">
                <a16:creationId xmlns:a16="http://schemas.microsoft.com/office/drawing/2014/main" id="{906A32A6-54BF-48EF-ABE8-03F625EA9FB8}"/>
              </a:ext>
            </a:extLst>
          </p:cNvPr>
          <p:cNvSpPr/>
          <p:nvPr/>
        </p:nvSpPr>
        <p:spPr>
          <a:xfrm>
            <a:off x="10362798" y="3326130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🌐</a:t>
            </a:r>
            <a:endParaRPr lang="en-US" sz="7200" dirty="0"/>
          </a:p>
        </p:txBody>
      </p:sp>
      <p:sp>
        <p:nvSpPr>
          <p:cNvPr id="77" name="Text 6">
            <a:extLst>
              <a:ext uri="{FF2B5EF4-FFF2-40B4-BE49-F238E27FC236}">
                <a16:creationId xmlns:a16="http://schemas.microsoft.com/office/drawing/2014/main" id="{94B643C2-8F92-4519-BC89-D7754041751A}"/>
              </a:ext>
            </a:extLst>
          </p:cNvPr>
          <p:cNvSpPr/>
          <p:nvPr/>
        </p:nvSpPr>
        <p:spPr>
          <a:xfrm>
            <a:off x="10023708" y="5275850"/>
            <a:ext cx="27432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Client</a:t>
            </a:r>
            <a:endParaRPr lang="en-US" sz="3200" dirty="0"/>
          </a:p>
        </p:txBody>
      </p:sp>
      <p:sp>
        <p:nvSpPr>
          <p:cNvPr id="78" name="Shape 7">
            <a:extLst>
              <a:ext uri="{FF2B5EF4-FFF2-40B4-BE49-F238E27FC236}">
                <a16:creationId xmlns:a16="http://schemas.microsoft.com/office/drawing/2014/main" id="{6DE342F8-32B4-4936-9DC2-678BFA443B1C}"/>
              </a:ext>
            </a:extLst>
          </p:cNvPr>
          <p:cNvSpPr/>
          <p:nvPr/>
        </p:nvSpPr>
        <p:spPr>
          <a:xfrm flipV="1">
            <a:off x="10644738" y="6072140"/>
            <a:ext cx="1447800" cy="83819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2" name="Text 8">
            <a:extLst>
              <a:ext uri="{FF2B5EF4-FFF2-40B4-BE49-F238E27FC236}">
                <a16:creationId xmlns:a16="http://schemas.microsoft.com/office/drawing/2014/main" id="{2A61F65C-E893-497E-B665-96678218ADC4}"/>
              </a:ext>
            </a:extLst>
          </p:cNvPr>
          <p:cNvSpPr/>
          <p:nvPr/>
        </p:nvSpPr>
        <p:spPr>
          <a:xfrm>
            <a:off x="9383628" y="6826519"/>
            <a:ext cx="3970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Giao </a:t>
            </a: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diện</a:t>
            </a: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web </a:t>
            </a: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thay</a:t>
            </a: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thế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Swing GUI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4">
            <a:extLst>
              <a:ext uri="{FF2B5EF4-FFF2-40B4-BE49-F238E27FC236}">
                <a16:creationId xmlns:a16="http://schemas.microsoft.com/office/drawing/2014/main" id="{A36EBFF5-438F-462F-9256-E4071D3762F7}"/>
              </a:ext>
            </a:extLst>
          </p:cNvPr>
          <p:cNvSpPr/>
          <p:nvPr/>
        </p:nvSpPr>
        <p:spPr>
          <a:xfrm>
            <a:off x="13716000" y="2933700"/>
            <a:ext cx="4191000" cy="5819679"/>
          </a:xfrm>
          <a:prstGeom prst="rect">
            <a:avLst/>
          </a:prstGeom>
          <a:solidFill>
            <a:srgbClr val="112B47"/>
          </a:solidFill>
          <a:ln w="28575">
            <a:solidFill>
              <a:srgbClr val="724AE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4" name="Text 5">
            <a:extLst>
              <a:ext uri="{FF2B5EF4-FFF2-40B4-BE49-F238E27FC236}">
                <a16:creationId xmlns:a16="http://schemas.microsoft.com/office/drawing/2014/main" id="{3CF22BAC-27E9-4D9A-B17B-818D2705AC33}"/>
              </a:ext>
            </a:extLst>
          </p:cNvPr>
          <p:cNvSpPr/>
          <p:nvPr/>
        </p:nvSpPr>
        <p:spPr>
          <a:xfrm>
            <a:off x="14805660" y="3326131"/>
            <a:ext cx="2011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👥</a:t>
            </a:r>
            <a:endParaRPr lang="en-US" sz="7200" dirty="0"/>
          </a:p>
        </p:txBody>
      </p:sp>
      <p:sp>
        <p:nvSpPr>
          <p:cNvPr id="85" name="Text 6">
            <a:extLst>
              <a:ext uri="{FF2B5EF4-FFF2-40B4-BE49-F238E27FC236}">
                <a16:creationId xmlns:a16="http://schemas.microsoft.com/office/drawing/2014/main" id="{1BB7486C-A7B9-4667-8370-7B22B0F53D41}"/>
              </a:ext>
            </a:extLst>
          </p:cNvPr>
          <p:cNvSpPr/>
          <p:nvPr/>
        </p:nvSpPr>
        <p:spPr>
          <a:xfrm>
            <a:off x="14077950" y="5318762"/>
            <a:ext cx="3467100" cy="3581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3200" dirty="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CCFC8DED-6A31-4635-BC30-F93E8C39B5D0}"/>
              </a:ext>
            </a:extLst>
          </p:cNvPr>
          <p:cNvSpPr/>
          <p:nvPr/>
        </p:nvSpPr>
        <p:spPr>
          <a:xfrm flipV="1">
            <a:off x="15240804" y="6072140"/>
            <a:ext cx="1447800" cy="83819"/>
          </a:xfrm>
          <a:prstGeom prst="rect">
            <a:avLst/>
          </a:prstGeom>
          <a:solidFill>
            <a:srgbClr val="724AEF"/>
          </a:solidFill>
          <a:ln w="12700">
            <a:solidFill>
              <a:srgbClr val="724AEF"/>
            </a:solidFill>
            <a:prstDash val="solid"/>
          </a:ln>
        </p:spPr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5CB9D558-9C32-4646-B519-3F5A336595EA}"/>
              </a:ext>
            </a:extLst>
          </p:cNvPr>
          <p:cNvSpPr/>
          <p:nvPr/>
        </p:nvSpPr>
        <p:spPr>
          <a:xfrm>
            <a:off x="13826490" y="6826520"/>
            <a:ext cx="3970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Nhiều</a:t>
            </a: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tài</a:t>
            </a: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khoản</a:t>
            </a: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phân</a:t>
            </a: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quyền</a:t>
            </a:r>
            <a:r>
              <a:rPr lang="en-US" sz="2800" dirty="0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FD8D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lệnh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Freeform 23">
            <a:extLst>
              <a:ext uri="{FF2B5EF4-FFF2-40B4-BE49-F238E27FC236}">
                <a16:creationId xmlns:a16="http://schemas.microsoft.com/office/drawing/2014/main" id="{09D6C093-33D0-4978-8B0B-E5E06DF94BE1}"/>
              </a:ext>
            </a:extLst>
          </p:cNvPr>
          <p:cNvSpPr/>
          <p:nvPr/>
        </p:nvSpPr>
        <p:spPr>
          <a:xfrm flipH="1">
            <a:off x="14321581" y="1533621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0" name="Freeform 23">
            <a:extLst>
              <a:ext uri="{FF2B5EF4-FFF2-40B4-BE49-F238E27FC236}">
                <a16:creationId xmlns:a16="http://schemas.microsoft.com/office/drawing/2014/main" id="{00B746EF-B1AE-49DD-995B-0ACEAC674BC4}"/>
              </a:ext>
            </a:extLst>
          </p:cNvPr>
          <p:cNvSpPr/>
          <p:nvPr/>
        </p:nvSpPr>
        <p:spPr>
          <a:xfrm>
            <a:off x="2127974" y="1533621"/>
            <a:ext cx="1838445" cy="304179"/>
          </a:xfrm>
          <a:custGeom>
            <a:avLst/>
            <a:gdLst/>
            <a:ahLst/>
            <a:cxnLst/>
            <a:rect l="l" t="t" r="r" b="b"/>
            <a:pathLst>
              <a:path w="1838445" h="304179">
                <a:moveTo>
                  <a:pt x="1838445" y="0"/>
                </a:moveTo>
                <a:lnTo>
                  <a:pt x="0" y="0"/>
                </a:lnTo>
                <a:lnTo>
                  <a:pt x="0" y="304180"/>
                </a:lnTo>
                <a:lnTo>
                  <a:pt x="1838445" y="304180"/>
                </a:lnTo>
                <a:lnTo>
                  <a:pt x="183844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747078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flipH="1">
            <a:off x="15964704" y="8005410"/>
            <a:ext cx="2281590" cy="2281590"/>
          </a:xfrm>
          <a:custGeom>
            <a:avLst/>
            <a:gdLst/>
            <a:ahLst/>
            <a:cxnLst/>
            <a:rect l="l" t="t" r="r" b="b"/>
            <a:pathLst>
              <a:path w="2281590" h="2281590">
                <a:moveTo>
                  <a:pt x="2281590" y="0"/>
                </a:moveTo>
                <a:lnTo>
                  <a:pt x="0" y="0"/>
                </a:lnTo>
                <a:lnTo>
                  <a:pt x="0" y="2281590"/>
                </a:lnTo>
                <a:lnTo>
                  <a:pt x="2281590" y="2281590"/>
                </a:lnTo>
                <a:lnTo>
                  <a:pt x="228159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829918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7001274" y="723900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74690" y="723900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723900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9351" y="723900"/>
            <a:ext cx="212036" cy="21203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9F144FDD-3D32-47E1-B3B5-C1B73A2E754B}"/>
              </a:ext>
            </a:extLst>
          </p:cNvPr>
          <p:cNvSpPr txBox="1"/>
          <p:nvPr/>
        </p:nvSpPr>
        <p:spPr>
          <a:xfrm>
            <a:off x="894718" y="1179996"/>
            <a:ext cx="16154633" cy="1356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881"/>
              </a:lnSpc>
            </a:pP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Kết</a:t>
            </a:r>
            <a:r>
              <a:rPr lang="en-US" sz="8000" dirty="0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 </a:t>
            </a:r>
            <a:r>
              <a:rPr lang="en-US" sz="8000" dirty="0" err="1">
                <a:solidFill>
                  <a:srgbClr val="FFFF66"/>
                </a:solidFill>
                <a:latin typeface="Josefin Sans Bold" pitchFamily="2" charset="0"/>
                <a:sym typeface="Poppins Medium"/>
              </a:rPr>
              <a:t>luận</a:t>
            </a:r>
            <a:endParaRPr lang="en-US" sz="8000" dirty="0">
              <a:solidFill>
                <a:srgbClr val="FFFF66"/>
              </a:solidFill>
              <a:latin typeface="Josefin Sans Bold" pitchFamily="2" charset="0"/>
              <a:sym typeface="Poppins Medium"/>
            </a:endParaRPr>
          </a:p>
        </p:txBody>
      </p:sp>
      <p:sp>
        <p:nvSpPr>
          <p:cNvPr id="45" name="TextBox 31">
            <a:extLst>
              <a:ext uri="{FF2B5EF4-FFF2-40B4-BE49-F238E27FC236}">
                <a16:creationId xmlns:a16="http://schemas.microsoft.com/office/drawing/2014/main" id="{F264FEF6-3ABD-487A-9025-EF6E675102F6}"/>
              </a:ext>
            </a:extLst>
          </p:cNvPr>
          <p:cNvSpPr txBox="1"/>
          <p:nvPr/>
        </p:nvSpPr>
        <p:spPr>
          <a:xfrm>
            <a:off x="3447534" y="3619500"/>
            <a:ext cx="11049000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Xây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dựng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thành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công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hệ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thống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Remote Command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hoàn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chỉnh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với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Client CLI, Client GUI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Server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đa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luồng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Nắm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vững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kiến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thức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TCP Socket, Multithreading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ProcessBuilder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trong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Java.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Thiết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kế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giao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thức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ứng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dụng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(OUTPUT_BEGIN/END, AUTH)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đảm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bảo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truyền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dữ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liệu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đúng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ổn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định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Áp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dụng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được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kiến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trúc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client-server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thực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tế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có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thể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mở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rộng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và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nâng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cấp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thêm</a:t>
            </a:r>
            <a:r>
              <a:rPr lang="en-US" sz="3200" dirty="0">
                <a:solidFill>
                  <a:srgbClr val="E8F4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3">
            <a:extLst>
              <a:ext uri="{FF2B5EF4-FFF2-40B4-BE49-F238E27FC236}">
                <a16:creationId xmlns:a16="http://schemas.microsoft.com/office/drawing/2014/main" id="{78025297-8BE8-4F14-BB26-021F51BA8A5A}"/>
              </a:ext>
            </a:extLst>
          </p:cNvPr>
          <p:cNvSpPr/>
          <p:nvPr/>
        </p:nvSpPr>
        <p:spPr>
          <a:xfrm>
            <a:off x="3050062" y="2886213"/>
            <a:ext cx="11843943" cy="5547140"/>
          </a:xfrm>
          <a:custGeom>
            <a:avLst/>
            <a:gdLst/>
            <a:ahLst/>
            <a:cxnLst/>
            <a:rect l="l" t="t" r="r" b="b"/>
            <a:pathLst>
              <a:path w="1128678" h="1695232">
                <a:moveTo>
                  <a:pt x="36131" y="0"/>
                </a:moveTo>
                <a:lnTo>
                  <a:pt x="1092547" y="0"/>
                </a:lnTo>
                <a:cubicBezTo>
                  <a:pt x="1112502" y="0"/>
                  <a:pt x="1128678" y="16176"/>
                  <a:pt x="1128678" y="36131"/>
                </a:cubicBezTo>
                <a:lnTo>
                  <a:pt x="1128678" y="1659101"/>
                </a:lnTo>
                <a:cubicBezTo>
                  <a:pt x="1128678" y="1668683"/>
                  <a:pt x="1124872" y="1677873"/>
                  <a:pt x="1118096" y="1684649"/>
                </a:cubicBezTo>
                <a:cubicBezTo>
                  <a:pt x="1111320" y="1691425"/>
                  <a:pt x="1102130" y="1695232"/>
                  <a:pt x="1092547" y="1695232"/>
                </a:cubicBezTo>
                <a:lnTo>
                  <a:pt x="36131" y="1695232"/>
                </a:lnTo>
                <a:cubicBezTo>
                  <a:pt x="26549" y="1695232"/>
                  <a:pt x="17358" y="1691425"/>
                  <a:pt x="10583" y="1684649"/>
                </a:cubicBezTo>
                <a:cubicBezTo>
                  <a:pt x="3807" y="1677873"/>
                  <a:pt x="0" y="1668683"/>
                  <a:pt x="0" y="1659101"/>
                </a:cubicBezTo>
                <a:lnTo>
                  <a:pt x="0" y="36131"/>
                </a:lnTo>
                <a:cubicBezTo>
                  <a:pt x="0" y="26549"/>
                  <a:pt x="3807" y="17358"/>
                  <a:pt x="10583" y="10583"/>
                </a:cubicBezTo>
                <a:cubicBezTo>
                  <a:pt x="17358" y="3807"/>
                  <a:pt x="26549" y="0"/>
                  <a:pt x="36131" y="0"/>
                </a:cubicBezTo>
                <a:close/>
              </a:path>
            </a:pathLst>
          </a:custGeom>
          <a:ln w="9525" cap="sq">
            <a:solidFill>
              <a:srgbClr val="EFDDFF">
                <a:alpha val="60000"/>
              </a:srgbClr>
            </a:solidFill>
            <a:prstDash val="solid"/>
            <a:miter/>
          </a:ln>
        </p:spPr>
      </p:sp>
      <p:sp>
        <p:nvSpPr>
          <p:cNvPr id="50" name="Freeform 28">
            <a:extLst>
              <a:ext uri="{FF2B5EF4-FFF2-40B4-BE49-F238E27FC236}">
                <a16:creationId xmlns:a16="http://schemas.microsoft.com/office/drawing/2014/main" id="{5EA31B9D-D139-4B74-97F3-16D7C12A35D5}"/>
              </a:ext>
            </a:extLst>
          </p:cNvPr>
          <p:cNvSpPr/>
          <p:nvPr/>
        </p:nvSpPr>
        <p:spPr>
          <a:xfrm flipV="1">
            <a:off x="-113058" y="3093720"/>
            <a:ext cx="2495550" cy="2495550"/>
          </a:xfrm>
          <a:custGeom>
            <a:avLst/>
            <a:gdLst/>
            <a:ahLst/>
            <a:cxnLst/>
            <a:rect l="l" t="t" r="r" b="b"/>
            <a:pathLst>
              <a:path w="2495550" h="2495550">
                <a:moveTo>
                  <a:pt x="0" y="2495550"/>
                </a:moveTo>
                <a:lnTo>
                  <a:pt x="2495550" y="2495550"/>
                </a:lnTo>
                <a:lnTo>
                  <a:pt x="2495550" y="0"/>
                </a:lnTo>
                <a:lnTo>
                  <a:pt x="0" y="0"/>
                </a:lnTo>
                <a:lnTo>
                  <a:pt x="0" y="24955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96177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35FD">
                <a:alpha val="100000"/>
              </a:srgbClr>
            </a:gs>
            <a:gs pos="100000">
              <a:srgbClr val="00044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10">
            <a:extLst>
              <a:ext uri="{FF2B5EF4-FFF2-40B4-BE49-F238E27FC236}">
                <a16:creationId xmlns:a16="http://schemas.microsoft.com/office/drawing/2014/main" id="{C3759260-D116-4FE1-AB6D-A271505E262B}"/>
              </a:ext>
            </a:extLst>
          </p:cNvPr>
          <p:cNvSpPr/>
          <p:nvPr/>
        </p:nvSpPr>
        <p:spPr>
          <a:xfrm>
            <a:off x="-445092" y="8140835"/>
            <a:ext cx="2234928" cy="2234928"/>
          </a:xfrm>
          <a:custGeom>
            <a:avLst/>
            <a:gdLst/>
            <a:ahLst/>
            <a:cxnLst/>
            <a:rect l="l" t="t" r="r" b="b"/>
            <a:pathLst>
              <a:path w="2234928" h="2234928">
                <a:moveTo>
                  <a:pt x="2234928" y="0"/>
                </a:moveTo>
                <a:lnTo>
                  <a:pt x="0" y="0"/>
                </a:lnTo>
                <a:lnTo>
                  <a:pt x="0" y="2234928"/>
                </a:lnTo>
                <a:lnTo>
                  <a:pt x="2234928" y="2234928"/>
                </a:lnTo>
                <a:lnTo>
                  <a:pt x="22349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EFDDFF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 flipV="1">
            <a:off x="0" y="2784827"/>
            <a:ext cx="1789836" cy="1789836"/>
          </a:xfrm>
          <a:custGeom>
            <a:avLst/>
            <a:gdLst/>
            <a:ahLst/>
            <a:cxnLst/>
            <a:rect l="l" t="t" r="r" b="b"/>
            <a:pathLst>
              <a:path w="1789836" h="1789836">
                <a:moveTo>
                  <a:pt x="0" y="1789836"/>
                </a:moveTo>
                <a:lnTo>
                  <a:pt x="1789836" y="1789836"/>
                </a:lnTo>
                <a:lnTo>
                  <a:pt x="1789836" y="0"/>
                </a:lnTo>
                <a:lnTo>
                  <a:pt x="0" y="0"/>
                </a:lnTo>
                <a:lnTo>
                  <a:pt x="0" y="17898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001274" y="922682"/>
            <a:ext cx="212036" cy="21203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74690" y="922682"/>
            <a:ext cx="212036" cy="21203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922682"/>
            <a:ext cx="212036" cy="2120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49351" y="922682"/>
            <a:ext cx="212036" cy="21203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D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789836" y="2784827"/>
            <a:ext cx="14897964" cy="3300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826"/>
              </a:lnSpc>
            </a:pPr>
            <a:r>
              <a:rPr lang="vi-VN" sz="7000" b="1" dirty="0">
                <a:solidFill>
                  <a:srgbClr val="FFFF00"/>
                </a:solidFill>
                <a:latin typeface="Segoe UI Variable Display" pitchFamily="2" charset="0"/>
                <a:ea typeface="Segoe UI Symbol" panose="020B0502040204020203" pitchFamily="34" charset="0"/>
              </a:rPr>
              <a:t>XIN CẢM ƠN </a:t>
            </a:r>
            <a:endParaRPr lang="en-US" sz="7000" b="1" dirty="0">
              <a:solidFill>
                <a:srgbClr val="FFFF00"/>
              </a:solidFill>
              <a:latin typeface="Segoe UI Variable Display" pitchFamily="2" charset="0"/>
              <a:ea typeface="Segoe UI Symbol" panose="020B0502040204020203" pitchFamily="34" charset="0"/>
            </a:endParaRPr>
          </a:p>
          <a:p>
            <a:pPr algn="ctr">
              <a:lnSpc>
                <a:spcPts val="13826"/>
              </a:lnSpc>
            </a:pPr>
            <a:r>
              <a:rPr lang="vi-VN" sz="7000" b="1" dirty="0">
                <a:solidFill>
                  <a:srgbClr val="FFFF00"/>
                </a:solidFill>
                <a:latin typeface="Segoe UI Variable Display" pitchFamily="2" charset="0"/>
                <a:ea typeface="Segoe UI Symbol" panose="020B0502040204020203" pitchFamily="34" charset="0"/>
              </a:rPr>
              <a:t>THẦY VÀ CÁC BẠN!</a:t>
            </a:r>
            <a:endParaRPr lang="en-US" sz="7000" b="1" dirty="0">
              <a:solidFill>
                <a:srgbClr val="FFFF00"/>
              </a:solidFill>
              <a:latin typeface="Segoe UI Variable Display" pitchFamily="2" charset="0"/>
              <a:ea typeface="Segoe UI Symbol" panose="020B0502040204020203" pitchFamily="34" charset="0"/>
              <a:sym typeface="Poppins Medium"/>
            </a:endParaRPr>
          </a:p>
        </p:txBody>
      </p:sp>
      <p:sp>
        <p:nvSpPr>
          <p:cNvPr id="34" name="Freeform 34"/>
          <p:cNvSpPr/>
          <p:nvPr/>
        </p:nvSpPr>
        <p:spPr>
          <a:xfrm flipH="1" flipV="1">
            <a:off x="16498164" y="2784827"/>
            <a:ext cx="1789836" cy="1789836"/>
          </a:xfrm>
          <a:custGeom>
            <a:avLst/>
            <a:gdLst/>
            <a:ahLst/>
            <a:cxnLst/>
            <a:rect l="l" t="t" r="r" b="b"/>
            <a:pathLst>
              <a:path w="1789836" h="1789836">
                <a:moveTo>
                  <a:pt x="1789837" y="1789837"/>
                </a:moveTo>
                <a:lnTo>
                  <a:pt x="0" y="1789837"/>
                </a:lnTo>
                <a:lnTo>
                  <a:pt x="0" y="0"/>
                </a:lnTo>
                <a:lnTo>
                  <a:pt x="1789837" y="0"/>
                </a:lnTo>
                <a:lnTo>
                  <a:pt x="1789837" y="17898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5DD303C7-D25E-46B2-88E0-26CEFE2BD8A9}"/>
              </a:ext>
            </a:extLst>
          </p:cNvPr>
          <p:cNvSpPr/>
          <p:nvPr/>
        </p:nvSpPr>
        <p:spPr>
          <a:xfrm>
            <a:off x="1048578" y="4574663"/>
            <a:ext cx="1986600" cy="328692"/>
          </a:xfrm>
          <a:custGeom>
            <a:avLst/>
            <a:gdLst/>
            <a:ahLst/>
            <a:cxnLst/>
            <a:rect l="l" t="t" r="r" b="b"/>
            <a:pathLst>
              <a:path w="1986600" h="328692">
                <a:moveTo>
                  <a:pt x="0" y="0"/>
                </a:moveTo>
                <a:lnTo>
                  <a:pt x="1986600" y="0"/>
                </a:lnTo>
                <a:lnTo>
                  <a:pt x="1986600" y="328692"/>
                </a:lnTo>
                <a:lnTo>
                  <a:pt x="0" y="3286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26">
            <a:extLst>
              <a:ext uri="{FF2B5EF4-FFF2-40B4-BE49-F238E27FC236}">
                <a16:creationId xmlns:a16="http://schemas.microsoft.com/office/drawing/2014/main" id="{F2F084A1-42FB-4B14-8DEF-42E78765495F}"/>
              </a:ext>
            </a:extLst>
          </p:cNvPr>
          <p:cNvSpPr/>
          <p:nvPr/>
        </p:nvSpPr>
        <p:spPr>
          <a:xfrm flipH="1">
            <a:off x="15292578" y="4574663"/>
            <a:ext cx="1986600" cy="328692"/>
          </a:xfrm>
          <a:custGeom>
            <a:avLst/>
            <a:gdLst/>
            <a:ahLst/>
            <a:cxnLst/>
            <a:rect l="l" t="t" r="r" b="b"/>
            <a:pathLst>
              <a:path w="1986600" h="328692">
                <a:moveTo>
                  <a:pt x="1986600" y="0"/>
                </a:moveTo>
                <a:lnTo>
                  <a:pt x="0" y="0"/>
                </a:lnTo>
                <a:lnTo>
                  <a:pt x="0" y="328692"/>
                </a:lnTo>
                <a:lnTo>
                  <a:pt x="1986600" y="328692"/>
                </a:lnTo>
                <a:lnTo>
                  <a:pt x="19866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02AA792F-1FAF-45F3-BDDC-2F82411DF7DC}"/>
              </a:ext>
            </a:extLst>
          </p:cNvPr>
          <p:cNvSpPr/>
          <p:nvPr/>
        </p:nvSpPr>
        <p:spPr>
          <a:xfrm>
            <a:off x="13632722" y="6018900"/>
            <a:ext cx="6110155" cy="6478799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28E85034-0C16-4CDA-9D19-31B5A8EF0970}"/>
              </a:ext>
            </a:extLst>
          </p:cNvPr>
          <p:cNvSpPr/>
          <p:nvPr/>
        </p:nvSpPr>
        <p:spPr>
          <a:xfrm>
            <a:off x="-2229088" y="7277100"/>
            <a:ext cx="3567991" cy="3300262"/>
          </a:xfrm>
          <a:prstGeom prst="ellipse">
            <a:avLst/>
          </a:prstGeom>
          <a:solidFill>
            <a:srgbClr val="00ACC1">
              <a:alpha val="12000"/>
            </a:srgbClr>
          </a:solidFill>
          <a:ln w="12700">
            <a:solidFill>
              <a:srgbClr val="00ACC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1833</Words>
  <Application>Microsoft Office PowerPoint</Application>
  <PresentationFormat>Custom</PresentationFormat>
  <Paragraphs>316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Segoe UI</vt:lpstr>
      <vt:lpstr>Consolas</vt:lpstr>
      <vt:lpstr>Josefin Sans Bold</vt:lpstr>
      <vt:lpstr>Calibri</vt:lpstr>
      <vt:lpstr>Segoe UI Variable Display</vt:lpstr>
      <vt:lpstr>Bahnschrift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Futuristic Remote Work Presentation</dc:title>
  <cp:lastModifiedBy>Nguyễn Ngọc Phương</cp:lastModifiedBy>
  <cp:revision>7</cp:revision>
  <dcterms:created xsi:type="dcterms:W3CDTF">2006-08-16T00:00:00Z</dcterms:created>
  <dcterms:modified xsi:type="dcterms:W3CDTF">2026-04-17T03:50:36Z</dcterms:modified>
  <dc:identifier>DAHHCUbZmE0</dc:identifier>
</cp:coreProperties>
</file>